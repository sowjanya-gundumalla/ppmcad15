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03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3474720"/>
            <a:ext cx="9144000" cy="1668780"/>
          </a:xfrm>
          <a:prstGeom prst="rect">
            <a:avLst/>
          </a:prstGeom>
          <a:solidFill>
            <a:srgbClr val="1E3A5F">
              <a:alpha val="60000"/>
            </a:srgbClr>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4023360" y="548640"/>
            <a:ext cx="1097280" cy="1097280"/>
          </a:xfrm>
          <a:prstGeom prst="rect">
            <a:avLst/>
          </a:prstGeom>
        </p:spPr>
      </p:pic>
      <p:sp>
        <p:nvSpPr>
          <p:cNvPr id="5" name="Text 2"/>
          <p:cNvSpPr/>
          <p:nvPr/>
        </p:nvSpPr>
        <p:spPr>
          <a:xfrm>
            <a:off x="457200" y="1737360"/>
            <a:ext cx="8229600" cy="731520"/>
          </a:xfrm>
          <a:prstGeom prst="rect">
            <a:avLst/>
          </a:prstGeom>
          <a:noFill/>
          <a:ln/>
        </p:spPr>
        <p:txBody>
          <a:bodyPr wrap="square" lIns="0" tIns="0" rIns="0" bIns="0" rtlCol="0" anchor="ctr"/>
          <a:lstStyle/>
          <a:p>
            <a:pPr marL="0" indent="0" algn="ctr">
              <a:buNone/>
            </a:pPr>
            <a:r>
              <a:rPr lang="en-US" sz="4400" b="1" dirty="0">
                <a:solidFill>
                  <a:srgbClr val="FFFFFF"/>
                </a:solidFill>
                <a:latin typeface="Trebuchet MS" pitchFamily="34" charset="0"/>
                <a:ea typeface="Trebuchet MS" pitchFamily="34" charset="-122"/>
                <a:cs typeface="Trebuchet MS" pitchFamily="34" charset="-120"/>
              </a:rPr>
              <a:t>GitHub Actions</a:t>
            </a:r>
            <a:endParaRPr lang="en-US" sz="4400" dirty="0"/>
          </a:p>
        </p:txBody>
      </p:sp>
      <p:sp>
        <p:nvSpPr>
          <p:cNvPr id="6" name="Text 3"/>
          <p:cNvSpPr/>
          <p:nvPr/>
        </p:nvSpPr>
        <p:spPr>
          <a:xfrm>
            <a:off x="457200" y="2423160"/>
            <a:ext cx="8229600" cy="457200"/>
          </a:xfrm>
          <a:prstGeom prst="rect">
            <a:avLst/>
          </a:prstGeom>
          <a:noFill/>
          <a:ln/>
        </p:spPr>
        <p:txBody>
          <a:bodyPr wrap="square" lIns="0" tIns="0" rIns="0" bIns="0" rtlCol="0" anchor="ctr"/>
          <a:lstStyle/>
          <a:p>
            <a:pPr marL="0" indent="0" algn="ctr">
              <a:buNone/>
            </a:pPr>
            <a:r>
              <a:rPr lang="en-US" sz="2200" dirty="0">
                <a:solidFill>
                  <a:srgbClr val="06B6D4"/>
                </a:solidFill>
                <a:latin typeface="Calibri" pitchFamily="34" charset="0"/>
                <a:ea typeface="Calibri" pitchFamily="34" charset="-122"/>
                <a:cs typeface="Calibri" pitchFamily="34" charset="-120"/>
              </a:rPr>
              <a:t>Modern Cloud-Native CI/CD</a:t>
            </a:r>
            <a:endParaRPr lang="en-US" sz="2200" dirty="0"/>
          </a:p>
        </p:txBody>
      </p:sp>
      <p:sp>
        <p:nvSpPr>
          <p:cNvPr id="7" name="Text 4"/>
          <p:cNvSpPr/>
          <p:nvPr/>
        </p:nvSpPr>
        <p:spPr>
          <a:xfrm>
            <a:off x="457200" y="3794760"/>
            <a:ext cx="8229600" cy="36576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From YAML Workflows to Production Deployments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What Is GitHub Actions?</a:t>
            </a:r>
            <a:endParaRPr lang="en-US" sz="3200" dirty="0"/>
          </a:p>
        </p:txBody>
      </p:sp>
      <p:sp>
        <p:nvSpPr>
          <p:cNvPr id="3" name="Text 1"/>
          <p:cNvSpPr/>
          <p:nvPr/>
        </p:nvSpPr>
        <p:spPr>
          <a:xfrm>
            <a:off x="548640" y="960120"/>
            <a:ext cx="8046720" cy="1005840"/>
          </a:xfrm>
          <a:prstGeom prst="rect">
            <a:avLst/>
          </a:prstGeom>
          <a:noFill/>
          <a:ln/>
        </p:spPr>
        <p:txBody>
          <a:bodyPr wrap="square" lIns="0" tIns="0" rIns="0" bIns="0" rtlCol="0" anchor="ctr"/>
          <a:lstStyle/>
          <a:p>
            <a:pPr marL="0" indent="0">
              <a:lnSpc>
                <a:spcPct val="130000"/>
              </a:lnSpc>
              <a:buNone/>
            </a:pPr>
            <a:r>
              <a:rPr lang="en-US" sz="1400" dirty="0">
                <a:solidFill>
                  <a:srgbClr val="334155"/>
                </a:solidFill>
                <a:latin typeface="Calibri" pitchFamily="34" charset="0"/>
                <a:ea typeface="Calibri" pitchFamily="34" charset="-122"/>
                <a:cs typeface="Calibri" pitchFamily="34" charset="-120"/>
              </a:rPr>
              <a:t>GitHub Actions is a CI/CD platform built directly into GitHub. You define automated workflows as YAML files inside your repository. When an event happens (push, PR, schedule, manual trigger), GitHub picks up the workflow and runs it on a runner - a virtual machine managed by GitHub or hosted by you.</a:t>
            </a:r>
            <a:endParaRPr lang="en-US" sz="1400" dirty="0"/>
          </a:p>
        </p:txBody>
      </p:sp>
      <p:sp>
        <p:nvSpPr>
          <p:cNvPr id="4" name="Shape 2"/>
          <p:cNvSpPr/>
          <p:nvPr/>
        </p:nvSpPr>
        <p:spPr>
          <a:xfrm>
            <a:off x="640080" y="2194560"/>
            <a:ext cx="16459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1261872" y="2304288"/>
            <a:ext cx="402336" cy="402336"/>
          </a:xfrm>
          <a:prstGeom prst="ellipse">
            <a:avLst/>
          </a:prstGeom>
          <a:solidFill>
            <a:srgbClr val="0891B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316736" y="2359152"/>
            <a:ext cx="292608" cy="292608"/>
          </a:xfrm>
          <a:prstGeom prst="rect">
            <a:avLst/>
          </a:prstGeom>
        </p:spPr>
      </p:pic>
      <p:sp>
        <p:nvSpPr>
          <p:cNvPr id="7" name="Text 4"/>
          <p:cNvSpPr/>
          <p:nvPr/>
        </p:nvSpPr>
        <p:spPr>
          <a:xfrm>
            <a:off x="640080" y="2743200"/>
            <a:ext cx="164592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Trebuchet MS" pitchFamily="34" charset="0"/>
                <a:ea typeface="Trebuchet MS" pitchFamily="34" charset="-122"/>
                <a:cs typeface="Trebuchet MS" pitchFamily="34" charset="-120"/>
              </a:rPr>
              <a:t>Event</a:t>
            </a:r>
            <a:endParaRPr lang="en-US" sz="1400" dirty="0"/>
          </a:p>
        </p:txBody>
      </p:sp>
      <p:sp>
        <p:nvSpPr>
          <p:cNvPr id="8" name="Text 5"/>
          <p:cNvSpPr/>
          <p:nvPr/>
        </p:nvSpPr>
        <p:spPr>
          <a:xfrm>
            <a:off x="640080" y="3035808"/>
            <a:ext cx="1645920" cy="640080"/>
          </a:xfrm>
          <a:prstGeom prst="rect">
            <a:avLst/>
          </a:prstGeom>
          <a:noFill/>
          <a:ln/>
        </p:spPr>
        <p:txBody>
          <a:bodyPr wrap="square" lIns="0" tIns="0" rIns="0" bIns="0" rtlCol="0" anchor="ctr"/>
          <a:lstStyle/>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push, PR, schedule</a:t>
            </a:r>
            <a:endParaRPr lang="en-US" sz="1100" dirty="0"/>
          </a:p>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workflow_dispatch</a:t>
            </a:r>
            <a:endParaRPr lang="en-US" sz="1100" dirty="0"/>
          </a:p>
        </p:txBody>
      </p:sp>
      <p:pic>
        <p:nvPicPr>
          <p:cNvPr id="9" name="Image 1" descr="preencoded.png"/>
          <p:cNvPicPr>
            <a:picLocks noChangeAspect="1"/>
          </p:cNvPicPr>
          <p:nvPr/>
        </p:nvPicPr>
        <p:blipFill>
          <a:blip r:embed="rId4"/>
          <a:stretch>
            <a:fillRect/>
          </a:stretch>
        </p:blipFill>
        <p:spPr>
          <a:xfrm>
            <a:off x="2395728" y="2697480"/>
            <a:ext cx="274320" cy="274320"/>
          </a:xfrm>
          <a:prstGeom prst="rect">
            <a:avLst/>
          </a:prstGeom>
        </p:spPr>
      </p:pic>
      <p:sp>
        <p:nvSpPr>
          <p:cNvPr id="10" name="Shape 6"/>
          <p:cNvSpPr/>
          <p:nvPr/>
        </p:nvSpPr>
        <p:spPr>
          <a:xfrm>
            <a:off x="2788920" y="2194560"/>
            <a:ext cx="16459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1" name="Image 2" descr="preencoded.png"/>
          <p:cNvPicPr>
            <a:picLocks noChangeAspect="1"/>
          </p:cNvPicPr>
          <p:nvPr/>
        </p:nvPicPr>
        <p:blipFill>
          <a:blip r:embed="rId5"/>
          <a:stretch>
            <a:fillRect/>
          </a:stretch>
        </p:blipFill>
        <p:spPr>
          <a:xfrm>
            <a:off x="3465576" y="2359152"/>
            <a:ext cx="292608" cy="292608"/>
          </a:xfrm>
          <a:prstGeom prst="rect">
            <a:avLst/>
          </a:prstGeom>
        </p:spPr>
      </p:pic>
      <p:sp>
        <p:nvSpPr>
          <p:cNvPr id="12" name="Text 7"/>
          <p:cNvSpPr/>
          <p:nvPr/>
        </p:nvSpPr>
        <p:spPr>
          <a:xfrm>
            <a:off x="2788920" y="2743200"/>
            <a:ext cx="164592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Trebuchet MS" pitchFamily="34" charset="0"/>
                <a:ea typeface="Trebuchet MS" pitchFamily="34" charset="-122"/>
                <a:cs typeface="Trebuchet MS" pitchFamily="34" charset="-120"/>
              </a:rPr>
              <a:t>Workflow</a:t>
            </a:r>
            <a:endParaRPr lang="en-US" sz="1400" dirty="0"/>
          </a:p>
        </p:txBody>
      </p:sp>
      <p:sp>
        <p:nvSpPr>
          <p:cNvPr id="13" name="Text 8"/>
          <p:cNvSpPr/>
          <p:nvPr/>
        </p:nvSpPr>
        <p:spPr>
          <a:xfrm>
            <a:off x="2788920" y="3035808"/>
            <a:ext cx="1645920" cy="640080"/>
          </a:xfrm>
          <a:prstGeom prst="rect">
            <a:avLst/>
          </a:prstGeom>
          <a:noFill/>
          <a:ln/>
        </p:spPr>
        <p:txBody>
          <a:bodyPr wrap="square" lIns="0" tIns="0" rIns="0" bIns="0" rtlCol="0" anchor="ctr"/>
          <a:lstStyle/>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.github/workflows/</a:t>
            </a:r>
            <a:endParaRPr lang="en-US" sz="1100" dirty="0"/>
          </a:p>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ci.yml (YAML)</a:t>
            </a:r>
            <a:endParaRPr lang="en-US" sz="1100" dirty="0"/>
          </a:p>
        </p:txBody>
      </p:sp>
      <p:pic>
        <p:nvPicPr>
          <p:cNvPr id="14" name="Image 3" descr="preencoded.png"/>
          <p:cNvPicPr>
            <a:picLocks noChangeAspect="1"/>
          </p:cNvPicPr>
          <p:nvPr/>
        </p:nvPicPr>
        <p:blipFill>
          <a:blip r:embed="rId4"/>
          <a:stretch>
            <a:fillRect/>
          </a:stretch>
        </p:blipFill>
        <p:spPr>
          <a:xfrm>
            <a:off x="4544568" y="2697480"/>
            <a:ext cx="274320" cy="274320"/>
          </a:xfrm>
          <a:prstGeom prst="rect">
            <a:avLst/>
          </a:prstGeom>
        </p:spPr>
      </p:pic>
      <p:sp>
        <p:nvSpPr>
          <p:cNvPr id="15" name="Shape 9"/>
          <p:cNvSpPr/>
          <p:nvPr/>
        </p:nvSpPr>
        <p:spPr>
          <a:xfrm>
            <a:off x="4937760" y="2194560"/>
            <a:ext cx="16459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6" name="Image 4" descr="preencoded.png"/>
          <p:cNvPicPr>
            <a:picLocks noChangeAspect="1"/>
          </p:cNvPicPr>
          <p:nvPr/>
        </p:nvPicPr>
        <p:blipFill>
          <a:blip r:embed="rId6"/>
          <a:stretch>
            <a:fillRect/>
          </a:stretch>
        </p:blipFill>
        <p:spPr>
          <a:xfrm>
            <a:off x="5614416" y="2359152"/>
            <a:ext cx="292608" cy="292608"/>
          </a:xfrm>
          <a:prstGeom prst="rect">
            <a:avLst/>
          </a:prstGeom>
        </p:spPr>
      </p:pic>
      <p:sp>
        <p:nvSpPr>
          <p:cNvPr id="17" name="Text 10"/>
          <p:cNvSpPr/>
          <p:nvPr/>
        </p:nvSpPr>
        <p:spPr>
          <a:xfrm>
            <a:off x="4937760" y="2743200"/>
            <a:ext cx="164592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Trebuchet MS" pitchFamily="34" charset="0"/>
                <a:ea typeface="Trebuchet MS" pitchFamily="34" charset="-122"/>
                <a:cs typeface="Trebuchet MS" pitchFamily="34" charset="-120"/>
              </a:rPr>
              <a:t>Runner</a:t>
            </a:r>
            <a:endParaRPr lang="en-US" sz="1400" dirty="0"/>
          </a:p>
        </p:txBody>
      </p:sp>
      <p:sp>
        <p:nvSpPr>
          <p:cNvPr id="18" name="Text 11"/>
          <p:cNvSpPr/>
          <p:nvPr/>
        </p:nvSpPr>
        <p:spPr>
          <a:xfrm>
            <a:off x="4937760" y="3035808"/>
            <a:ext cx="1645920" cy="640080"/>
          </a:xfrm>
          <a:prstGeom prst="rect">
            <a:avLst/>
          </a:prstGeom>
          <a:noFill/>
          <a:ln/>
        </p:spPr>
        <p:txBody>
          <a:bodyPr wrap="square" lIns="0" tIns="0" rIns="0" bIns="0" rtlCol="0" anchor="ctr"/>
          <a:lstStyle/>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GitHub-hosted VM</a:t>
            </a:r>
            <a:endParaRPr lang="en-US" sz="1100" dirty="0"/>
          </a:p>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or self-hosted</a:t>
            </a:r>
            <a:endParaRPr lang="en-US" sz="1100" dirty="0"/>
          </a:p>
        </p:txBody>
      </p:sp>
      <p:pic>
        <p:nvPicPr>
          <p:cNvPr id="19" name="Image 5" descr="preencoded.png"/>
          <p:cNvPicPr>
            <a:picLocks noChangeAspect="1"/>
          </p:cNvPicPr>
          <p:nvPr/>
        </p:nvPicPr>
        <p:blipFill>
          <a:blip r:embed="rId4"/>
          <a:stretch>
            <a:fillRect/>
          </a:stretch>
        </p:blipFill>
        <p:spPr>
          <a:xfrm>
            <a:off x="6693408" y="2697480"/>
            <a:ext cx="274320" cy="274320"/>
          </a:xfrm>
          <a:prstGeom prst="rect">
            <a:avLst/>
          </a:prstGeom>
        </p:spPr>
      </p:pic>
      <p:sp>
        <p:nvSpPr>
          <p:cNvPr id="20" name="Shape 12"/>
          <p:cNvSpPr/>
          <p:nvPr/>
        </p:nvSpPr>
        <p:spPr>
          <a:xfrm>
            <a:off x="7086600" y="2194560"/>
            <a:ext cx="16459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21" name="Image 6" descr="preencoded.png"/>
          <p:cNvPicPr>
            <a:picLocks noChangeAspect="1"/>
          </p:cNvPicPr>
          <p:nvPr/>
        </p:nvPicPr>
        <p:blipFill>
          <a:blip r:embed="rId7"/>
          <a:stretch>
            <a:fillRect/>
          </a:stretch>
        </p:blipFill>
        <p:spPr>
          <a:xfrm>
            <a:off x="7763256" y="2359152"/>
            <a:ext cx="292608" cy="292608"/>
          </a:xfrm>
          <a:prstGeom prst="rect">
            <a:avLst/>
          </a:prstGeom>
        </p:spPr>
      </p:pic>
      <p:sp>
        <p:nvSpPr>
          <p:cNvPr id="22" name="Text 13"/>
          <p:cNvSpPr/>
          <p:nvPr/>
        </p:nvSpPr>
        <p:spPr>
          <a:xfrm>
            <a:off x="7086600" y="2743200"/>
            <a:ext cx="164592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Trebuchet MS" pitchFamily="34" charset="0"/>
                <a:ea typeface="Trebuchet MS" pitchFamily="34" charset="-122"/>
                <a:cs typeface="Trebuchet MS" pitchFamily="34" charset="-120"/>
              </a:rPr>
              <a:t>Results</a:t>
            </a:r>
            <a:endParaRPr lang="en-US" sz="1400" dirty="0"/>
          </a:p>
        </p:txBody>
      </p:sp>
      <p:sp>
        <p:nvSpPr>
          <p:cNvPr id="23" name="Text 14"/>
          <p:cNvSpPr/>
          <p:nvPr/>
        </p:nvSpPr>
        <p:spPr>
          <a:xfrm>
            <a:off x="7086600" y="3035808"/>
            <a:ext cx="1645920" cy="640080"/>
          </a:xfrm>
          <a:prstGeom prst="rect">
            <a:avLst/>
          </a:prstGeom>
          <a:noFill/>
          <a:ln/>
        </p:spPr>
        <p:txBody>
          <a:bodyPr wrap="square" lIns="0" tIns="0" rIns="0" bIns="0" rtlCol="0" anchor="ctr"/>
          <a:lstStyle/>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Logs, artifacts,</a:t>
            </a:r>
            <a:endParaRPr lang="en-US" sz="1100" dirty="0"/>
          </a:p>
          <a:p>
            <a:pPr marL="0" indent="0" algn="ctr">
              <a:lnSpc>
                <a:spcPct val="120000"/>
              </a:lnSpc>
              <a:buNone/>
            </a:pPr>
            <a:r>
              <a:rPr lang="en-US" sz="1100" dirty="0">
                <a:solidFill>
                  <a:srgbClr val="94A3B8"/>
                </a:solidFill>
                <a:latin typeface="Calibri" pitchFamily="34" charset="0"/>
                <a:ea typeface="Calibri" pitchFamily="34" charset="-122"/>
                <a:cs typeface="Calibri" pitchFamily="34" charset="-120"/>
              </a:rPr>
              <a:t>status checks</a:t>
            </a:r>
            <a:endParaRPr lang="en-US" sz="1100" dirty="0"/>
          </a:p>
        </p:txBody>
      </p:sp>
      <p:sp>
        <p:nvSpPr>
          <p:cNvPr id="24" name="Text 15"/>
          <p:cNvSpPr/>
          <p:nvPr/>
        </p:nvSpPr>
        <p:spPr>
          <a:xfrm>
            <a:off x="548640" y="4114800"/>
            <a:ext cx="8046720" cy="365760"/>
          </a:xfrm>
          <a:prstGeom prst="rect">
            <a:avLst/>
          </a:prstGeom>
          <a:noFill/>
          <a:ln/>
        </p:spPr>
        <p:txBody>
          <a:bodyPr wrap="square" lIns="0" tIns="0" rIns="0" bIns="0" rtlCol="0" anchor="ctr"/>
          <a:lstStyle/>
          <a:p>
            <a:pPr marL="0" indent="0">
              <a:buNone/>
            </a:pPr>
            <a:r>
              <a:rPr lang="en-US" sz="1300" i="1" dirty="0">
                <a:solidFill>
                  <a:srgbClr val="0891B2"/>
                </a:solidFill>
                <a:latin typeface="Calibri" pitchFamily="34" charset="0"/>
                <a:ea typeface="Calibri" pitchFamily="34" charset="-122"/>
                <a:cs typeface="Calibri" pitchFamily="34" charset="-120"/>
              </a:rPr>
              <a:t>All config lives in your repo: .github/workflows/*.</a:t>
            </a:r>
            <a:r>
              <a:rPr lang="en-US" sz="1300" i="1" dirty="0" err="1">
                <a:solidFill>
                  <a:srgbClr val="0891B2"/>
                </a:solidFill>
                <a:latin typeface="Calibri" pitchFamily="34" charset="0"/>
                <a:ea typeface="Calibri" pitchFamily="34" charset="-122"/>
                <a:cs typeface="Calibri" pitchFamily="34" charset="-120"/>
              </a:rPr>
              <a:t>yml</a:t>
            </a:r>
            <a:r>
              <a:rPr lang="en-US" sz="1300" i="1" dirty="0">
                <a:solidFill>
                  <a:srgbClr val="0891B2"/>
                </a:solidFill>
                <a:latin typeface="Calibri" pitchFamily="34" charset="0"/>
                <a:ea typeface="Calibri" pitchFamily="34" charset="-122"/>
                <a:cs typeface="Calibri" pitchFamily="34" charset="-120"/>
              </a:rPr>
              <a:t> - no separate CI server needed.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The GitHub Actions UI</a:t>
            </a:r>
            <a:endParaRPr lang="en-US" sz="3200" dirty="0"/>
          </a:p>
        </p:txBody>
      </p:sp>
      <p:sp>
        <p:nvSpPr>
          <p:cNvPr id="3" name="Text 1"/>
          <p:cNvSpPr/>
          <p:nvPr/>
        </p:nvSpPr>
        <p:spPr>
          <a:xfrm>
            <a:off x="548640" y="868680"/>
            <a:ext cx="8046720" cy="41148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Everything runs and is visible directly inside your GitHub repository. No separate dashboard or tool is needed.</a:t>
            </a:r>
            <a:endParaRPr lang="en-US" sz="1400" dirty="0"/>
          </a:p>
        </p:txBody>
      </p:sp>
      <p:sp>
        <p:nvSpPr>
          <p:cNvPr id="4" name="Shape 2"/>
          <p:cNvSpPr/>
          <p:nvPr/>
        </p:nvSpPr>
        <p:spPr>
          <a:xfrm>
            <a:off x="548640" y="1463040"/>
            <a:ext cx="365760" cy="365760"/>
          </a:xfrm>
          <a:prstGeom prst="ellipse">
            <a:avLst/>
          </a:prstGeom>
          <a:solidFill>
            <a:srgbClr val="0891B2"/>
          </a:solidFill>
          <a:ln/>
        </p:spPr>
        <p:txBody>
          <a:bodyPr/>
          <a:lstStyle/>
          <a:p>
            <a:endParaRPr lang="en-IN"/>
          </a:p>
        </p:txBody>
      </p:sp>
      <p:sp>
        <p:nvSpPr>
          <p:cNvPr id="5" name="Text 3"/>
          <p:cNvSpPr/>
          <p:nvPr/>
        </p:nvSpPr>
        <p:spPr>
          <a:xfrm>
            <a:off x="548640" y="14630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6" name="Text 4"/>
          <p:cNvSpPr/>
          <p:nvPr/>
        </p:nvSpPr>
        <p:spPr>
          <a:xfrm>
            <a:off x="1051560" y="1417320"/>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Actions Tab</a:t>
            </a:r>
            <a:endParaRPr lang="en-US" sz="1400" dirty="0"/>
          </a:p>
        </p:txBody>
      </p:sp>
      <p:sp>
        <p:nvSpPr>
          <p:cNvPr id="7" name="Text 5"/>
          <p:cNvSpPr/>
          <p:nvPr/>
        </p:nvSpPr>
        <p:spPr>
          <a:xfrm>
            <a:off x="3017520" y="1417320"/>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In your repo, click the "Actions" tab to see all workflow runs - past, live, and queued.</a:t>
            </a:r>
            <a:endParaRPr lang="en-US" sz="1250" dirty="0"/>
          </a:p>
        </p:txBody>
      </p:sp>
      <p:sp>
        <p:nvSpPr>
          <p:cNvPr id="8" name="Shape 6"/>
          <p:cNvSpPr/>
          <p:nvPr/>
        </p:nvSpPr>
        <p:spPr>
          <a:xfrm>
            <a:off x="548640" y="2121408"/>
            <a:ext cx="365760" cy="365760"/>
          </a:xfrm>
          <a:prstGeom prst="ellipse">
            <a:avLst/>
          </a:prstGeom>
          <a:solidFill>
            <a:srgbClr val="0891B2"/>
          </a:solidFill>
          <a:ln/>
        </p:spPr>
        <p:txBody>
          <a:bodyPr/>
          <a:lstStyle/>
          <a:p>
            <a:endParaRPr lang="en-IN"/>
          </a:p>
        </p:txBody>
      </p:sp>
      <p:sp>
        <p:nvSpPr>
          <p:cNvPr id="9" name="Text 7"/>
          <p:cNvSpPr/>
          <p:nvPr/>
        </p:nvSpPr>
        <p:spPr>
          <a:xfrm>
            <a:off x="548640" y="212140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1051560" y="2075688"/>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Workflow Runs</a:t>
            </a:r>
            <a:endParaRPr lang="en-US" sz="1400" dirty="0"/>
          </a:p>
        </p:txBody>
      </p:sp>
      <p:sp>
        <p:nvSpPr>
          <p:cNvPr id="11" name="Text 9"/>
          <p:cNvSpPr/>
          <p:nvPr/>
        </p:nvSpPr>
        <p:spPr>
          <a:xfrm>
            <a:off x="3017520" y="2075688"/>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Each push or PR trigger creates a "run". Click a run to see its jobs, status (success/fail), and duration.</a:t>
            </a:r>
            <a:endParaRPr lang="en-US" sz="1250" dirty="0"/>
          </a:p>
        </p:txBody>
      </p:sp>
      <p:sp>
        <p:nvSpPr>
          <p:cNvPr id="12" name="Shape 10"/>
          <p:cNvSpPr/>
          <p:nvPr/>
        </p:nvSpPr>
        <p:spPr>
          <a:xfrm>
            <a:off x="548640" y="2779776"/>
            <a:ext cx="365760" cy="365760"/>
          </a:xfrm>
          <a:prstGeom prst="ellipse">
            <a:avLst/>
          </a:prstGeom>
          <a:solidFill>
            <a:srgbClr val="0891B2"/>
          </a:solidFill>
          <a:ln/>
        </p:spPr>
        <p:txBody>
          <a:bodyPr/>
          <a:lstStyle/>
          <a:p>
            <a:endParaRPr lang="en-IN"/>
          </a:p>
        </p:txBody>
      </p:sp>
      <p:sp>
        <p:nvSpPr>
          <p:cNvPr id="13" name="Text 11"/>
          <p:cNvSpPr/>
          <p:nvPr/>
        </p:nvSpPr>
        <p:spPr>
          <a:xfrm>
            <a:off x="548640" y="27797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4" name="Text 12"/>
          <p:cNvSpPr/>
          <p:nvPr/>
        </p:nvSpPr>
        <p:spPr>
          <a:xfrm>
            <a:off x="1051560" y="2734056"/>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Job Logs</a:t>
            </a:r>
            <a:endParaRPr lang="en-US" sz="1400" dirty="0"/>
          </a:p>
        </p:txBody>
      </p:sp>
      <p:sp>
        <p:nvSpPr>
          <p:cNvPr id="15" name="Text 13"/>
          <p:cNvSpPr/>
          <p:nvPr/>
        </p:nvSpPr>
        <p:spPr>
          <a:xfrm>
            <a:off x="3017520" y="2734056"/>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Click a job → expand each step to see real-time streaming logs, exactly like a terminal.</a:t>
            </a:r>
            <a:endParaRPr lang="en-US" sz="1250" dirty="0"/>
          </a:p>
        </p:txBody>
      </p:sp>
      <p:sp>
        <p:nvSpPr>
          <p:cNvPr id="16" name="Shape 14"/>
          <p:cNvSpPr/>
          <p:nvPr/>
        </p:nvSpPr>
        <p:spPr>
          <a:xfrm>
            <a:off x="548640" y="3438144"/>
            <a:ext cx="365760" cy="365760"/>
          </a:xfrm>
          <a:prstGeom prst="ellipse">
            <a:avLst/>
          </a:prstGeom>
          <a:solidFill>
            <a:srgbClr val="0891B2"/>
          </a:solidFill>
          <a:ln/>
        </p:spPr>
        <p:txBody>
          <a:bodyPr/>
          <a:lstStyle/>
          <a:p>
            <a:endParaRPr lang="en-IN"/>
          </a:p>
        </p:txBody>
      </p:sp>
      <p:sp>
        <p:nvSpPr>
          <p:cNvPr id="17" name="Text 15"/>
          <p:cNvSpPr/>
          <p:nvPr/>
        </p:nvSpPr>
        <p:spPr>
          <a:xfrm>
            <a:off x="548640" y="343814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18" name="Text 16"/>
          <p:cNvSpPr/>
          <p:nvPr/>
        </p:nvSpPr>
        <p:spPr>
          <a:xfrm>
            <a:off x="1051560" y="3392424"/>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Artifacts</a:t>
            </a:r>
            <a:endParaRPr lang="en-US" sz="1400" dirty="0"/>
          </a:p>
        </p:txBody>
      </p:sp>
      <p:sp>
        <p:nvSpPr>
          <p:cNvPr id="19" name="Text 17"/>
          <p:cNvSpPr/>
          <p:nvPr/>
        </p:nvSpPr>
        <p:spPr>
          <a:xfrm>
            <a:off x="3017520" y="3392424"/>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Download test results, build outputs, or any file your workflow uploads, right from the run summary.</a:t>
            </a:r>
            <a:endParaRPr lang="en-US" sz="1250" dirty="0"/>
          </a:p>
        </p:txBody>
      </p:sp>
      <p:sp>
        <p:nvSpPr>
          <p:cNvPr id="20" name="Shape 18"/>
          <p:cNvSpPr/>
          <p:nvPr/>
        </p:nvSpPr>
        <p:spPr>
          <a:xfrm>
            <a:off x="548640" y="4096512"/>
            <a:ext cx="365760" cy="365760"/>
          </a:xfrm>
          <a:prstGeom prst="ellipse">
            <a:avLst/>
          </a:prstGeom>
          <a:solidFill>
            <a:srgbClr val="0891B2"/>
          </a:solidFill>
          <a:ln/>
        </p:spPr>
        <p:txBody>
          <a:bodyPr/>
          <a:lstStyle/>
          <a:p>
            <a:endParaRPr lang="en-IN"/>
          </a:p>
        </p:txBody>
      </p:sp>
      <p:sp>
        <p:nvSpPr>
          <p:cNvPr id="21" name="Text 19"/>
          <p:cNvSpPr/>
          <p:nvPr/>
        </p:nvSpPr>
        <p:spPr>
          <a:xfrm>
            <a:off x="548640" y="409651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22" name="Text 20"/>
          <p:cNvSpPr/>
          <p:nvPr/>
        </p:nvSpPr>
        <p:spPr>
          <a:xfrm>
            <a:off x="1051560" y="4050792"/>
            <a:ext cx="1920240" cy="41148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Re-run &amp; Debug</a:t>
            </a:r>
            <a:endParaRPr lang="en-US" sz="1400" dirty="0"/>
          </a:p>
        </p:txBody>
      </p:sp>
      <p:sp>
        <p:nvSpPr>
          <p:cNvPr id="23" name="Text 21"/>
          <p:cNvSpPr/>
          <p:nvPr/>
        </p:nvSpPr>
        <p:spPr>
          <a:xfrm>
            <a:off x="3017520" y="4050792"/>
            <a:ext cx="5669280" cy="457200"/>
          </a:xfrm>
          <a:prstGeom prst="rect">
            <a:avLst/>
          </a:prstGeom>
          <a:noFill/>
          <a:ln/>
        </p:spPr>
        <p:txBody>
          <a:bodyPr wrap="square" lIns="0" tIns="0" rIns="0" bIns="0" rtlCol="0" anchor="ctr"/>
          <a:lstStyle/>
          <a:p>
            <a:pPr marL="0" indent="0">
              <a:buNone/>
            </a:pPr>
            <a:r>
              <a:rPr lang="en-US" sz="1250" dirty="0">
                <a:solidFill>
                  <a:srgbClr val="334155"/>
                </a:solidFill>
                <a:latin typeface="Calibri" pitchFamily="34" charset="0"/>
                <a:ea typeface="Calibri" pitchFamily="34" charset="-122"/>
                <a:cs typeface="Calibri" pitchFamily="34" charset="-120"/>
              </a:rPr>
              <a:t>Re-run failed jobs or entire workflows with one click. Enable debug logging for troubleshooting.</a:t>
            </a:r>
            <a:endParaRPr lang="en-US" sz="1250" dirty="0"/>
          </a:p>
        </p:txBody>
      </p:sp>
      <p:sp>
        <p:nvSpPr>
          <p:cNvPr id="24" name="Text 22"/>
          <p:cNvSpPr/>
          <p:nvPr/>
        </p:nvSpPr>
        <p:spPr>
          <a:xfrm>
            <a:off x="548640" y="4572000"/>
            <a:ext cx="8046720" cy="320040"/>
          </a:xfrm>
          <a:prstGeom prst="rect">
            <a:avLst/>
          </a:prstGeom>
          <a:noFill/>
          <a:ln/>
        </p:spPr>
        <p:txBody>
          <a:bodyPr wrap="square" lIns="0" tIns="0" rIns="0" bIns="0" rtlCol="0" anchor="ctr"/>
          <a:lstStyle/>
          <a:p>
            <a:pPr marL="0" indent="0">
              <a:buNone/>
            </a:pPr>
            <a:r>
              <a:rPr lang="en-US" sz="1200" i="1" dirty="0">
                <a:solidFill>
                  <a:srgbClr val="0891B2"/>
                </a:solidFill>
                <a:latin typeface="Calibri" pitchFamily="34" charset="0"/>
                <a:ea typeface="Calibri" pitchFamily="34" charset="-122"/>
                <a:cs typeface="Calibri" pitchFamily="34" charset="-120"/>
              </a:rPr>
              <a:t>Demo: Open any public repo with Actions → explore a run → expand a step → check the Summary tab.</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Key Concepts</a:t>
            </a:r>
            <a:endParaRPr lang="en-US" sz="3200" dirty="0"/>
          </a:p>
        </p:txBody>
      </p:sp>
      <p:sp>
        <p:nvSpPr>
          <p:cNvPr id="3" name="Shape 1"/>
          <p:cNvSpPr/>
          <p:nvPr/>
        </p:nvSpPr>
        <p:spPr>
          <a:xfrm>
            <a:off x="548640" y="100584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4" name="Image 0" descr="preencoded.png"/>
          <p:cNvPicPr>
            <a:picLocks noChangeAspect="1"/>
          </p:cNvPicPr>
          <p:nvPr/>
        </p:nvPicPr>
        <p:blipFill>
          <a:blip r:embed="rId3"/>
          <a:stretch>
            <a:fillRect/>
          </a:stretch>
        </p:blipFill>
        <p:spPr>
          <a:xfrm>
            <a:off x="685800" y="1143000"/>
            <a:ext cx="320040" cy="320040"/>
          </a:xfrm>
          <a:prstGeom prst="rect">
            <a:avLst/>
          </a:prstGeom>
        </p:spPr>
      </p:pic>
      <p:sp>
        <p:nvSpPr>
          <p:cNvPr id="5" name="Text 2"/>
          <p:cNvSpPr/>
          <p:nvPr/>
        </p:nvSpPr>
        <p:spPr>
          <a:xfrm>
            <a:off x="1097280" y="114300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Workflow</a:t>
            </a:r>
            <a:endParaRPr lang="en-US" sz="1400" dirty="0"/>
          </a:p>
        </p:txBody>
      </p:sp>
      <p:sp>
        <p:nvSpPr>
          <p:cNvPr id="6" name="Text 3"/>
          <p:cNvSpPr/>
          <p:nvPr/>
        </p:nvSpPr>
        <p:spPr>
          <a:xfrm>
            <a:off x="685800" y="155448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YAML file in .github/workflows/. One repo can have many workflows, each triggered by events.</a:t>
            </a:r>
            <a:endParaRPr lang="en-US" sz="1150" dirty="0"/>
          </a:p>
        </p:txBody>
      </p:sp>
      <p:sp>
        <p:nvSpPr>
          <p:cNvPr id="7" name="Shape 4"/>
          <p:cNvSpPr/>
          <p:nvPr/>
        </p:nvSpPr>
        <p:spPr>
          <a:xfrm>
            <a:off x="3383280" y="100584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8" name="Image 1" descr="preencoded.png"/>
          <p:cNvPicPr>
            <a:picLocks noChangeAspect="1"/>
          </p:cNvPicPr>
          <p:nvPr/>
        </p:nvPicPr>
        <p:blipFill>
          <a:blip r:embed="rId4"/>
          <a:stretch>
            <a:fillRect/>
          </a:stretch>
        </p:blipFill>
        <p:spPr>
          <a:xfrm>
            <a:off x="3520440" y="1143000"/>
            <a:ext cx="320040" cy="320040"/>
          </a:xfrm>
          <a:prstGeom prst="rect">
            <a:avLst/>
          </a:prstGeom>
        </p:spPr>
      </p:pic>
      <p:sp>
        <p:nvSpPr>
          <p:cNvPr id="9" name="Text 5"/>
          <p:cNvSpPr/>
          <p:nvPr/>
        </p:nvSpPr>
        <p:spPr>
          <a:xfrm>
            <a:off x="3931920" y="114300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Event</a:t>
            </a:r>
            <a:endParaRPr lang="en-US" sz="1400" dirty="0"/>
          </a:p>
        </p:txBody>
      </p:sp>
      <p:sp>
        <p:nvSpPr>
          <p:cNvPr id="10" name="Text 6"/>
          <p:cNvSpPr/>
          <p:nvPr/>
        </p:nvSpPr>
        <p:spPr>
          <a:xfrm>
            <a:off x="3520440" y="155448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push, pull_request, schedule, workflow_dispatch, release - defines when a workflow runs.</a:t>
            </a:r>
            <a:endParaRPr lang="en-US" sz="1150" dirty="0"/>
          </a:p>
        </p:txBody>
      </p:sp>
      <p:sp>
        <p:nvSpPr>
          <p:cNvPr id="11" name="Shape 7"/>
          <p:cNvSpPr/>
          <p:nvPr/>
        </p:nvSpPr>
        <p:spPr>
          <a:xfrm>
            <a:off x="6217920" y="100584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2" name="Image 2" descr="preencoded.png"/>
          <p:cNvPicPr>
            <a:picLocks noChangeAspect="1"/>
          </p:cNvPicPr>
          <p:nvPr/>
        </p:nvPicPr>
        <p:blipFill>
          <a:blip r:embed="rId5"/>
          <a:stretch>
            <a:fillRect/>
          </a:stretch>
        </p:blipFill>
        <p:spPr>
          <a:xfrm>
            <a:off x="6355080" y="1143000"/>
            <a:ext cx="320040" cy="320040"/>
          </a:xfrm>
          <a:prstGeom prst="rect">
            <a:avLst/>
          </a:prstGeom>
        </p:spPr>
      </p:pic>
      <p:sp>
        <p:nvSpPr>
          <p:cNvPr id="13" name="Text 8"/>
          <p:cNvSpPr/>
          <p:nvPr/>
        </p:nvSpPr>
        <p:spPr>
          <a:xfrm>
            <a:off x="6766560" y="114300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Job</a:t>
            </a:r>
            <a:endParaRPr lang="en-US" sz="1400" dirty="0"/>
          </a:p>
        </p:txBody>
      </p:sp>
      <p:sp>
        <p:nvSpPr>
          <p:cNvPr id="14" name="Text 9"/>
          <p:cNvSpPr/>
          <p:nvPr/>
        </p:nvSpPr>
        <p:spPr>
          <a:xfrm>
            <a:off x="6355080" y="155448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A group of steps that run on one runner. Jobs run in parallel by default; use needs: for ordering.</a:t>
            </a:r>
            <a:endParaRPr lang="en-US" sz="1150" dirty="0"/>
          </a:p>
        </p:txBody>
      </p:sp>
      <p:sp>
        <p:nvSpPr>
          <p:cNvPr id="15" name="Shape 10"/>
          <p:cNvSpPr/>
          <p:nvPr/>
        </p:nvSpPr>
        <p:spPr>
          <a:xfrm>
            <a:off x="548640" y="288036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6" name="Image 3" descr="preencoded.png"/>
          <p:cNvPicPr>
            <a:picLocks noChangeAspect="1"/>
          </p:cNvPicPr>
          <p:nvPr/>
        </p:nvPicPr>
        <p:blipFill>
          <a:blip r:embed="rId6"/>
          <a:stretch>
            <a:fillRect/>
          </a:stretch>
        </p:blipFill>
        <p:spPr>
          <a:xfrm>
            <a:off x="685800" y="3017520"/>
            <a:ext cx="320040" cy="320040"/>
          </a:xfrm>
          <a:prstGeom prst="rect">
            <a:avLst/>
          </a:prstGeom>
        </p:spPr>
      </p:pic>
      <p:sp>
        <p:nvSpPr>
          <p:cNvPr id="17" name="Text 11"/>
          <p:cNvSpPr/>
          <p:nvPr/>
        </p:nvSpPr>
        <p:spPr>
          <a:xfrm>
            <a:off x="1097280" y="301752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Step</a:t>
            </a:r>
            <a:endParaRPr lang="en-US" sz="1400" dirty="0"/>
          </a:p>
        </p:txBody>
      </p:sp>
      <p:sp>
        <p:nvSpPr>
          <p:cNvPr id="18" name="Text 12"/>
          <p:cNvSpPr/>
          <p:nvPr/>
        </p:nvSpPr>
        <p:spPr>
          <a:xfrm>
            <a:off x="685800" y="342900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Individual task in a job. Can be a shell command (run:) or a reusable Action (uses:).</a:t>
            </a:r>
            <a:endParaRPr lang="en-US" sz="1150" dirty="0"/>
          </a:p>
        </p:txBody>
      </p:sp>
      <p:sp>
        <p:nvSpPr>
          <p:cNvPr id="19" name="Shape 13"/>
          <p:cNvSpPr/>
          <p:nvPr/>
        </p:nvSpPr>
        <p:spPr>
          <a:xfrm>
            <a:off x="3383280" y="288036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20" name="Image 4" descr="preencoded.png"/>
          <p:cNvPicPr>
            <a:picLocks noChangeAspect="1"/>
          </p:cNvPicPr>
          <p:nvPr/>
        </p:nvPicPr>
        <p:blipFill>
          <a:blip r:embed="rId7"/>
          <a:stretch>
            <a:fillRect/>
          </a:stretch>
        </p:blipFill>
        <p:spPr>
          <a:xfrm>
            <a:off x="3520440" y="3017520"/>
            <a:ext cx="320040" cy="320040"/>
          </a:xfrm>
          <a:prstGeom prst="rect">
            <a:avLst/>
          </a:prstGeom>
        </p:spPr>
      </p:pic>
      <p:sp>
        <p:nvSpPr>
          <p:cNvPr id="21" name="Text 14"/>
          <p:cNvSpPr/>
          <p:nvPr/>
        </p:nvSpPr>
        <p:spPr>
          <a:xfrm>
            <a:off x="3931920" y="301752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Action</a:t>
            </a:r>
            <a:endParaRPr lang="en-US" sz="1400" dirty="0"/>
          </a:p>
        </p:txBody>
      </p:sp>
      <p:sp>
        <p:nvSpPr>
          <p:cNvPr id="22" name="Text 15"/>
          <p:cNvSpPr/>
          <p:nvPr/>
        </p:nvSpPr>
        <p:spPr>
          <a:xfrm>
            <a:off x="3520440" y="342900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Reusable unit from the Marketplace. e.g. actions/checkout, docker/build-push-action.</a:t>
            </a:r>
            <a:endParaRPr lang="en-US" sz="1150" dirty="0"/>
          </a:p>
        </p:txBody>
      </p:sp>
      <p:sp>
        <p:nvSpPr>
          <p:cNvPr id="23" name="Shape 16"/>
          <p:cNvSpPr/>
          <p:nvPr/>
        </p:nvSpPr>
        <p:spPr>
          <a:xfrm>
            <a:off x="6217920" y="2880360"/>
            <a:ext cx="260604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24" name="Image 5" descr="preencoded.png"/>
          <p:cNvPicPr>
            <a:picLocks noChangeAspect="1"/>
          </p:cNvPicPr>
          <p:nvPr/>
        </p:nvPicPr>
        <p:blipFill>
          <a:blip r:embed="rId8"/>
          <a:stretch>
            <a:fillRect/>
          </a:stretch>
        </p:blipFill>
        <p:spPr>
          <a:xfrm>
            <a:off x="6355080" y="3017520"/>
            <a:ext cx="320040" cy="320040"/>
          </a:xfrm>
          <a:prstGeom prst="rect">
            <a:avLst/>
          </a:prstGeom>
        </p:spPr>
      </p:pic>
      <p:sp>
        <p:nvSpPr>
          <p:cNvPr id="25" name="Text 17"/>
          <p:cNvSpPr/>
          <p:nvPr/>
        </p:nvSpPr>
        <p:spPr>
          <a:xfrm>
            <a:off x="6766560" y="3017520"/>
            <a:ext cx="1920240" cy="32004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Runner</a:t>
            </a:r>
            <a:endParaRPr lang="en-US" sz="1400" dirty="0"/>
          </a:p>
        </p:txBody>
      </p:sp>
      <p:sp>
        <p:nvSpPr>
          <p:cNvPr id="26" name="Text 18"/>
          <p:cNvSpPr/>
          <p:nvPr/>
        </p:nvSpPr>
        <p:spPr>
          <a:xfrm>
            <a:off x="6355080" y="3429000"/>
            <a:ext cx="2331720" cy="960120"/>
          </a:xfrm>
          <a:prstGeom prst="rect">
            <a:avLst/>
          </a:prstGeom>
          <a:noFill/>
          <a:ln/>
        </p:spPr>
        <p:txBody>
          <a:bodyPr wrap="square" lIns="0" tIns="0" rIns="0" bIns="0" rtlCol="0" anchor="ctr"/>
          <a:lstStyle/>
          <a:p>
            <a:pPr marL="0" indent="0">
              <a:lnSpc>
                <a:spcPct val="125000"/>
              </a:lnSpc>
              <a:buNone/>
            </a:pPr>
            <a:r>
              <a:rPr lang="en-US" sz="1150" dirty="0">
                <a:solidFill>
                  <a:srgbClr val="334155"/>
                </a:solidFill>
                <a:latin typeface="Calibri" pitchFamily="34" charset="0"/>
                <a:ea typeface="Calibri" pitchFamily="34" charset="-122"/>
                <a:cs typeface="Calibri" pitchFamily="34" charset="-120"/>
              </a:rPr>
              <a:t>VM that executes jobs. GitHub-hosted (ubuntu-latest) or self-hosted on your own infra.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000" b="1" dirty="0">
                <a:solidFill>
                  <a:srgbClr val="0F172A"/>
                </a:solidFill>
                <a:latin typeface="Trebuchet MS" pitchFamily="34" charset="0"/>
                <a:ea typeface="Trebuchet MS" pitchFamily="34" charset="-122"/>
                <a:cs typeface="Trebuchet MS" pitchFamily="34" charset="-120"/>
              </a:rPr>
              <a:t>Runners - The Agents Behind Your Builds</a:t>
            </a:r>
            <a:endParaRPr lang="en-US" sz="3000" dirty="0"/>
          </a:p>
        </p:txBody>
      </p:sp>
      <p:sp>
        <p:nvSpPr>
          <p:cNvPr id="3" name="Text 1"/>
          <p:cNvSpPr/>
          <p:nvPr/>
        </p:nvSpPr>
        <p:spPr>
          <a:xfrm>
            <a:off x="548640" y="868680"/>
            <a:ext cx="8046720" cy="36576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A runner is the machine that executes your workflow jobs. Think of it like the Jenkins agent.</a:t>
            </a:r>
            <a:endParaRPr lang="en-US" sz="1400" dirty="0"/>
          </a:p>
        </p:txBody>
      </p:sp>
      <p:sp>
        <p:nvSpPr>
          <p:cNvPr id="4" name="Shape 2"/>
          <p:cNvSpPr/>
          <p:nvPr/>
        </p:nvSpPr>
        <p:spPr>
          <a:xfrm>
            <a:off x="548640" y="1463040"/>
            <a:ext cx="3749040" cy="30175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548640" y="1463040"/>
            <a:ext cx="3749040" cy="457200"/>
          </a:xfrm>
          <a:prstGeom prst="rect">
            <a:avLst/>
          </a:prstGeom>
          <a:solidFill>
            <a:srgbClr val="0891B2"/>
          </a:solidFill>
          <a:ln/>
        </p:spPr>
        <p:txBody>
          <a:bodyPr/>
          <a:lstStyle/>
          <a:p>
            <a:endParaRPr lang="en-IN"/>
          </a:p>
        </p:txBody>
      </p:sp>
      <p:sp>
        <p:nvSpPr>
          <p:cNvPr id="6" name="Text 4"/>
          <p:cNvSpPr/>
          <p:nvPr/>
        </p:nvSpPr>
        <p:spPr>
          <a:xfrm>
            <a:off x="548640" y="1463040"/>
            <a:ext cx="3749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GitHub-Hosted Runners</a:t>
            </a:r>
            <a:endParaRPr lang="en-US" sz="1400" dirty="0"/>
          </a:p>
        </p:txBody>
      </p:sp>
      <p:sp>
        <p:nvSpPr>
          <p:cNvPr id="7" name="Text 5"/>
          <p:cNvSpPr/>
          <p:nvPr/>
        </p:nvSpPr>
        <p:spPr>
          <a:xfrm>
            <a:off x="731520" y="2057400"/>
            <a:ext cx="3383280" cy="2354580"/>
          </a:xfrm>
          <a:prstGeom prst="rect">
            <a:avLst/>
          </a:prstGeom>
          <a:noFill/>
          <a:ln/>
        </p:spPr>
        <p:txBody>
          <a:bodyPr wrap="square" rtlCol="0" anchor="ctr"/>
          <a:lstStyle/>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Managed by GitHub - zero setup</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Fresh VM every job (clean environment)</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Linux, Windows, macOS available</a:t>
            </a:r>
            <a:endParaRPr lang="en-US" sz="1200" dirty="0"/>
          </a:p>
          <a:p>
            <a:pPr marL="342900" indent="-342900">
              <a:lnSpc>
                <a:spcPct val="130000"/>
              </a:lnSpc>
              <a:spcAft>
                <a:spcPts val="400"/>
              </a:spcAft>
              <a:buSzPct val="100000"/>
              <a:buChar char="•"/>
            </a:pPr>
            <a:r>
              <a:rPr lang="en-US" sz="1100" dirty="0">
                <a:solidFill>
                  <a:srgbClr val="334155"/>
                </a:solidFill>
                <a:latin typeface="Consolas" pitchFamily="34" charset="0"/>
                <a:ea typeface="Consolas" pitchFamily="34" charset="-122"/>
                <a:cs typeface="Consolas" pitchFamily="34" charset="-120"/>
              </a:rPr>
              <a:t>runs-on: ubuntu-latest,</a:t>
            </a:r>
          </a:p>
          <a:p>
            <a:pPr lvl="1">
              <a:lnSpc>
                <a:spcPct val="130000"/>
              </a:lnSpc>
              <a:spcAft>
                <a:spcPts val="400"/>
              </a:spcAft>
              <a:buSzPct val="100000"/>
            </a:pPr>
            <a:r>
              <a:rPr lang="en-US" sz="1100" dirty="0">
                <a:solidFill>
                  <a:srgbClr val="334155"/>
                </a:solidFill>
                <a:latin typeface="Consolas" pitchFamily="34" charset="0"/>
              </a:rPr>
              <a:t>Other images can be retrieved from: https://github.com/actions/runner-images</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Pre-installed tools: Docker, Node, Python, etc.</a:t>
            </a:r>
            <a:endParaRPr lang="en-US" sz="1200" dirty="0"/>
          </a:p>
          <a:p>
            <a:pPr marL="342900" indent="-342900">
              <a:lnSpc>
                <a:spcPct val="130000"/>
              </a:lnSpc>
              <a:spcAft>
                <a:spcPts val="400"/>
              </a:spcAft>
              <a:buSzPct val="100000"/>
              <a:buChar char="•"/>
            </a:pPr>
            <a:r>
              <a:rPr lang="en-US" sz="1200" b="1" dirty="0">
                <a:solidFill>
                  <a:srgbClr val="334155"/>
                </a:solidFill>
                <a:latin typeface="Calibri" pitchFamily="34" charset="0"/>
                <a:ea typeface="Calibri" pitchFamily="34" charset="-122"/>
                <a:cs typeface="Calibri" pitchFamily="34" charset="-120"/>
              </a:rPr>
              <a:t>Best for: Most teams, getting started</a:t>
            </a:r>
            <a:endParaRPr lang="en-US" sz="1200" dirty="0"/>
          </a:p>
        </p:txBody>
      </p:sp>
      <p:sp>
        <p:nvSpPr>
          <p:cNvPr id="8" name="Shape 6"/>
          <p:cNvSpPr/>
          <p:nvPr/>
        </p:nvSpPr>
        <p:spPr>
          <a:xfrm>
            <a:off x="4846320" y="1463040"/>
            <a:ext cx="3749040" cy="30175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846320" y="1463040"/>
            <a:ext cx="3749040" cy="457200"/>
          </a:xfrm>
          <a:prstGeom prst="rect">
            <a:avLst/>
          </a:prstGeom>
          <a:solidFill>
            <a:srgbClr val="1E3A5F"/>
          </a:solidFill>
          <a:ln/>
        </p:spPr>
        <p:txBody>
          <a:bodyPr/>
          <a:lstStyle/>
          <a:p>
            <a:endParaRPr lang="en-IN"/>
          </a:p>
        </p:txBody>
      </p:sp>
      <p:sp>
        <p:nvSpPr>
          <p:cNvPr id="10" name="Text 8"/>
          <p:cNvSpPr/>
          <p:nvPr/>
        </p:nvSpPr>
        <p:spPr>
          <a:xfrm>
            <a:off x="4846320" y="1463040"/>
            <a:ext cx="3749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Self-Hosted Runners</a:t>
            </a:r>
            <a:endParaRPr lang="en-US" sz="1400" dirty="0"/>
          </a:p>
        </p:txBody>
      </p:sp>
      <p:sp>
        <p:nvSpPr>
          <p:cNvPr id="11" name="Text 9"/>
          <p:cNvSpPr/>
          <p:nvPr/>
        </p:nvSpPr>
        <p:spPr>
          <a:xfrm>
            <a:off x="5029200" y="2057400"/>
            <a:ext cx="3383280" cy="2354580"/>
          </a:xfrm>
          <a:prstGeom prst="rect">
            <a:avLst/>
          </a:prstGeom>
          <a:noFill/>
          <a:ln/>
        </p:spPr>
        <p:txBody>
          <a:bodyPr wrap="square" rtlCol="0" anchor="ctr"/>
          <a:lstStyle/>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Your own machine (EC2, on-prem, etc.)</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You manage OS, tools, and updates</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Persistent env - caches survive between jobs</a:t>
            </a:r>
            <a:endParaRPr lang="en-US" sz="1200" dirty="0"/>
          </a:p>
          <a:p>
            <a:pPr marL="342900" indent="-342900">
              <a:lnSpc>
                <a:spcPct val="130000"/>
              </a:lnSpc>
              <a:spcAft>
                <a:spcPts val="400"/>
              </a:spcAft>
              <a:buSzPct val="100000"/>
              <a:buChar char="•"/>
            </a:pPr>
            <a:r>
              <a:rPr lang="en-US" sz="1100" dirty="0">
                <a:solidFill>
                  <a:srgbClr val="334155"/>
                </a:solidFill>
                <a:latin typeface="Consolas" pitchFamily="34" charset="0"/>
                <a:ea typeface="Consolas" pitchFamily="34" charset="-122"/>
                <a:cs typeface="Consolas" pitchFamily="34" charset="-120"/>
              </a:rPr>
              <a:t>runs-on: self-hosted</a:t>
            </a:r>
            <a:endParaRPr lang="en-US" sz="1200" dirty="0"/>
          </a:p>
          <a:p>
            <a:pPr marL="342900" indent="-342900">
              <a:lnSpc>
                <a:spcPct val="130000"/>
              </a:lnSpc>
              <a:spcAft>
                <a:spcPts val="400"/>
              </a:spcAft>
              <a:buSzPct val="100000"/>
              <a:buChar char="•"/>
            </a:pPr>
            <a:r>
              <a:rPr lang="en-US" sz="1200" dirty="0">
                <a:solidFill>
                  <a:srgbClr val="334155"/>
                </a:solidFill>
                <a:latin typeface="Calibri" pitchFamily="34" charset="0"/>
                <a:ea typeface="Calibri" pitchFamily="34" charset="-122"/>
                <a:cs typeface="Calibri" pitchFamily="34" charset="-120"/>
              </a:rPr>
              <a:t>Access to private network / GPUs / special HW</a:t>
            </a:r>
            <a:endParaRPr lang="en-US" sz="1200" dirty="0"/>
          </a:p>
          <a:p>
            <a:pPr marL="342900" indent="-342900">
              <a:lnSpc>
                <a:spcPct val="130000"/>
              </a:lnSpc>
              <a:spcAft>
                <a:spcPts val="400"/>
              </a:spcAft>
              <a:buSzPct val="100000"/>
              <a:buChar char="•"/>
            </a:pPr>
            <a:r>
              <a:rPr lang="en-US" sz="1200" b="1" dirty="0">
                <a:solidFill>
                  <a:srgbClr val="334155"/>
                </a:solidFill>
                <a:latin typeface="Calibri" pitchFamily="34" charset="0"/>
                <a:ea typeface="Calibri" pitchFamily="34" charset="-122"/>
                <a:cs typeface="Calibri" pitchFamily="34" charset="-120"/>
              </a:rPr>
              <a:t>Best for: Enterprise, custom needs, cost control</a:t>
            </a:r>
            <a:endParaRPr lang="en-US" sz="1200" dirty="0"/>
          </a:p>
        </p:txBody>
      </p:sp>
      <p:sp>
        <p:nvSpPr>
          <p:cNvPr id="12" name="Text 10"/>
          <p:cNvSpPr/>
          <p:nvPr/>
        </p:nvSpPr>
        <p:spPr>
          <a:xfrm>
            <a:off x="548640" y="4617720"/>
            <a:ext cx="8046720" cy="320040"/>
          </a:xfrm>
          <a:prstGeom prst="rect">
            <a:avLst/>
          </a:prstGeom>
          <a:noFill/>
          <a:ln/>
        </p:spPr>
        <p:txBody>
          <a:bodyPr wrap="square" lIns="0" tIns="0" rIns="0" bIns="0" rtlCol="0" anchor="ctr"/>
          <a:lstStyle/>
          <a:p>
            <a:pPr marL="0" indent="0">
              <a:buNone/>
            </a:pPr>
            <a:r>
              <a:rPr lang="en-US" sz="1200" i="1" dirty="0">
                <a:solidFill>
                  <a:srgbClr val="0891B2"/>
                </a:solidFill>
                <a:latin typeface="Calibri" pitchFamily="34" charset="0"/>
                <a:ea typeface="Calibri" pitchFamily="34" charset="-122"/>
                <a:cs typeface="Calibri" pitchFamily="34" charset="-120"/>
              </a:rPr>
              <a:t>Lab guide provided: "Setting up an Ubuntu Self-Hosted Runner" (separate handout)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Pricing &amp; Cost Model</a:t>
            </a:r>
            <a:endParaRPr lang="en-US" sz="3200" dirty="0"/>
          </a:p>
        </p:txBody>
      </p:sp>
      <p:pic>
        <p:nvPicPr>
          <p:cNvPr id="3" name="Image 0" descr="preencoded.png"/>
          <p:cNvPicPr>
            <a:picLocks noChangeAspect="1"/>
          </p:cNvPicPr>
          <p:nvPr/>
        </p:nvPicPr>
        <p:blipFill>
          <a:blip r:embed="rId3"/>
          <a:stretch>
            <a:fillRect/>
          </a:stretch>
        </p:blipFill>
        <p:spPr>
          <a:xfrm>
            <a:off x="548640" y="1005840"/>
            <a:ext cx="320040" cy="320040"/>
          </a:xfrm>
          <a:prstGeom prst="rect">
            <a:avLst/>
          </a:prstGeom>
        </p:spPr>
      </p:pic>
      <p:sp>
        <p:nvSpPr>
          <p:cNvPr id="4" name="Text 1"/>
          <p:cNvSpPr/>
          <p:nvPr/>
        </p:nvSpPr>
        <p:spPr>
          <a:xfrm>
            <a:off x="1005840" y="1005840"/>
            <a:ext cx="7589520" cy="320040"/>
          </a:xfrm>
          <a:prstGeom prst="rect">
            <a:avLst/>
          </a:prstGeom>
          <a:noFill/>
          <a:ln/>
        </p:spPr>
        <p:txBody>
          <a:bodyPr wrap="square" lIns="0" tIns="0" rIns="0" bIns="0"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Public repos: GitHub-hosted runners are completely free (no minute limit).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2402952987"/>
              </p:ext>
            </p:extLst>
          </p:nvPr>
        </p:nvGraphicFramePr>
        <p:xfrm>
          <a:off x="548640" y="1508760"/>
          <a:ext cx="8046720" cy="179832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65760">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Plan</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Free Minutes/mo</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Storage</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Overage (Linux)</a:t>
                      </a:r>
                    </a:p>
                    <a:p>
                      <a:pPr marL="0" indent="0" algn="ctr">
                        <a:buNone/>
                      </a:pPr>
                      <a:r>
                        <a:rPr lang="en-US" sz="800" dirty="0">
                          <a:solidFill>
                            <a:schemeClr val="bg1"/>
                          </a:solidFill>
                          <a:latin typeface="Trebuchet MS" charset="0"/>
                          <a:ea typeface="Trebuchet MS" charset="0"/>
                          <a:cs typeface="Trebuchet MS" charset="0"/>
                        </a:rPr>
                        <a:t>the per-minute cost you pay once you exceed your free minutes quota</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2004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Free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500 MB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$0.008/min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Pro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 GB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$0.008/min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2004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2 GB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$0.008/min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Enterprise Cloud</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50,000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50 GB</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$0.008/min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bl>
          </a:graphicData>
        </a:graphic>
      </p:graphicFrame>
      <p:sp>
        <p:nvSpPr>
          <p:cNvPr id="6" name="Text 2"/>
          <p:cNvSpPr/>
          <p:nvPr/>
        </p:nvSpPr>
        <p:spPr>
          <a:xfrm>
            <a:off x="548640" y="3337560"/>
            <a:ext cx="8046720" cy="777240"/>
          </a:xfrm>
          <a:prstGeom prst="rect">
            <a:avLst/>
          </a:prstGeom>
          <a:noFill/>
          <a:ln/>
        </p:spPr>
        <p:txBody>
          <a:bodyPr wrap="square" lIns="0" tIns="0" rIns="0" bIns="0" rtlCol="0" anchor="ctr"/>
          <a:lstStyle/>
          <a:p>
            <a:pPr marL="0" indent="0">
              <a:lnSpc>
                <a:spcPct val="130000"/>
              </a:lnSpc>
              <a:buNone/>
            </a:pPr>
            <a:r>
              <a:rPr lang="en-US" sz="1200" b="1" dirty="0">
                <a:solidFill>
                  <a:srgbClr val="334155"/>
                </a:solidFill>
                <a:latin typeface="Calibri" pitchFamily="34" charset="0"/>
                <a:ea typeface="Calibri" pitchFamily="34" charset="-122"/>
                <a:cs typeface="Calibri" pitchFamily="34" charset="-120"/>
              </a:rPr>
              <a:t>Key notes: </a:t>
            </a:r>
            <a:r>
              <a:rPr lang="en-US" sz="1200" dirty="0">
                <a:solidFill>
                  <a:srgbClr val="334155"/>
                </a:solidFill>
                <a:latin typeface="Calibri" pitchFamily="34" charset="0"/>
                <a:ea typeface="Calibri" pitchFamily="34" charset="-122"/>
                <a:cs typeface="Calibri" pitchFamily="34" charset="-120"/>
              </a:rPr>
              <a:t>Windows runners use 2× minutes, macOS uses 10×. Larger runners always cost extra. Self-hosted runners on private repos now have a $0.002/min platform fee (March 2026). Public repo standard runner usage remains free.</a:t>
            </a:r>
            <a:endParaRPr lang="en-US" sz="1200" dirty="0"/>
          </a:p>
        </p:txBody>
      </p:sp>
      <p:sp>
        <p:nvSpPr>
          <p:cNvPr id="5" name="Text 3"/>
          <p:cNvSpPr/>
          <p:nvPr/>
        </p:nvSpPr>
        <p:spPr>
          <a:xfrm>
            <a:off x="548640" y="4297680"/>
            <a:ext cx="8046720" cy="27432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Check current pricing: github.com/pricing → compare plans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000" b="1" dirty="0">
                <a:solidFill>
                  <a:srgbClr val="0F172A"/>
                </a:solidFill>
                <a:latin typeface="Trebuchet MS" pitchFamily="34" charset="0"/>
                <a:ea typeface="Trebuchet MS" pitchFamily="34" charset="-122"/>
                <a:cs typeface="Trebuchet MS" pitchFamily="34" charset="-120"/>
              </a:rPr>
              <a:t>CI/CD Workflow: Docker → ECR → ECS</a:t>
            </a:r>
            <a:endParaRPr lang="en-US" sz="3000" dirty="0"/>
          </a:p>
        </p:txBody>
      </p:sp>
      <p:sp>
        <p:nvSpPr>
          <p:cNvPr id="3" name="Shape 1"/>
          <p:cNvSpPr/>
          <p:nvPr/>
        </p:nvSpPr>
        <p:spPr>
          <a:xfrm>
            <a:off x="548640" y="1005840"/>
            <a:ext cx="1188720" cy="731520"/>
          </a:xfrm>
          <a:prstGeom prst="rect">
            <a:avLst/>
          </a:prstGeom>
          <a:solidFill>
            <a:srgbClr val="0891B2"/>
          </a:solidFill>
          <a:ln/>
        </p:spPr>
        <p:txBody>
          <a:bodyPr/>
          <a:lstStyle/>
          <a:p>
            <a:endParaRPr lang="en-IN"/>
          </a:p>
        </p:txBody>
      </p:sp>
      <p:sp>
        <p:nvSpPr>
          <p:cNvPr id="4" name="Text 2"/>
          <p:cNvSpPr/>
          <p:nvPr/>
        </p:nvSpPr>
        <p:spPr>
          <a:xfrm>
            <a:off x="5486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Checkout</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Code</a:t>
            </a:r>
            <a:endParaRPr lang="en-US" sz="1100" dirty="0"/>
          </a:p>
        </p:txBody>
      </p:sp>
      <p:sp>
        <p:nvSpPr>
          <p:cNvPr id="5" name="Text 3"/>
          <p:cNvSpPr/>
          <p:nvPr/>
        </p:nvSpPr>
        <p:spPr>
          <a:xfrm>
            <a:off x="17373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6" name="Shape 4"/>
          <p:cNvSpPr/>
          <p:nvPr/>
        </p:nvSpPr>
        <p:spPr>
          <a:xfrm>
            <a:off x="1920240" y="1005840"/>
            <a:ext cx="1188720" cy="731520"/>
          </a:xfrm>
          <a:prstGeom prst="rect">
            <a:avLst/>
          </a:prstGeom>
          <a:solidFill>
            <a:srgbClr val="0891B2"/>
          </a:solidFill>
          <a:ln/>
        </p:spPr>
        <p:txBody>
          <a:bodyPr/>
          <a:lstStyle/>
          <a:p>
            <a:endParaRPr lang="en-IN"/>
          </a:p>
        </p:txBody>
      </p:sp>
      <p:sp>
        <p:nvSpPr>
          <p:cNvPr id="7" name="Text 5"/>
          <p:cNvSpPr/>
          <p:nvPr/>
        </p:nvSpPr>
        <p:spPr>
          <a:xfrm>
            <a:off x="19202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Run</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Tests</a:t>
            </a:r>
            <a:endParaRPr lang="en-US" sz="1100" dirty="0"/>
          </a:p>
        </p:txBody>
      </p:sp>
      <p:sp>
        <p:nvSpPr>
          <p:cNvPr id="8" name="Text 6"/>
          <p:cNvSpPr/>
          <p:nvPr/>
        </p:nvSpPr>
        <p:spPr>
          <a:xfrm>
            <a:off x="31089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3291840" y="1005840"/>
            <a:ext cx="1188720" cy="731520"/>
          </a:xfrm>
          <a:prstGeom prst="rect">
            <a:avLst/>
          </a:prstGeom>
          <a:solidFill>
            <a:srgbClr val="1E3A5F"/>
          </a:solidFill>
          <a:ln/>
        </p:spPr>
        <p:txBody>
          <a:bodyPr/>
          <a:lstStyle/>
          <a:p>
            <a:endParaRPr lang="en-IN"/>
          </a:p>
        </p:txBody>
      </p:sp>
      <p:sp>
        <p:nvSpPr>
          <p:cNvPr id="10" name="Text 8"/>
          <p:cNvSpPr/>
          <p:nvPr/>
        </p:nvSpPr>
        <p:spPr>
          <a:xfrm>
            <a:off x="32918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Build</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Docker</a:t>
            </a:r>
            <a:endParaRPr lang="en-US" sz="1100" dirty="0"/>
          </a:p>
        </p:txBody>
      </p:sp>
      <p:sp>
        <p:nvSpPr>
          <p:cNvPr id="11" name="Text 9"/>
          <p:cNvSpPr/>
          <p:nvPr/>
        </p:nvSpPr>
        <p:spPr>
          <a:xfrm>
            <a:off x="44805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4663440" y="1005840"/>
            <a:ext cx="1188720" cy="731520"/>
          </a:xfrm>
          <a:prstGeom prst="rect">
            <a:avLst/>
          </a:prstGeom>
          <a:solidFill>
            <a:srgbClr val="1E3A5F"/>
          </a:solidFill>
          <a:ln/>
        </p:spPr>
        <p:txBody>
          <a:bodyPr/>
          <a:lstStyle/>
          <a:p>
            <a:endParaRPr lang="en-IN"/>
          </a:p>
        </p:txBody>
      </p:sp>
      <p:sp>
        <p:nvSpPr>
          <p:cNvPr id="13" name="Text 11"/>
          <p:cNvSpPr/>
          <p:nvPr/>
        </p:nvSpPr>
        <p:spPr>
          <a:xfrm>
            <a:off x="46634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Scan</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(Trivy)</a:t>
            </a:r>
            <a:endParaRPr lang="en-US" sz="1100" dirty="0"/>
          </a:p>
        </p:txBody>
      </p:sp>
      <p:sp>
        <p:nvSpPr>
          <p:cNvPr id="14" name="Text 12"/>
          <p:cNvSpPr/>
          <p:nvPr/>
        </p:nvSpPr>
        <p:spPr>
          <a:xfrm>
            <a:off x="58521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6035040" y="1005840"/>
            <a:ext cx="1188720" cy="731520"/>
          </a:xfrm>
          <a:prstGeom prst="rect">
            <a:avLst/>
          </a:prstGeom>
          <a:solidFill>
            <a:srgbClr val="0F172A"/>
          </a:solidFill>
          <a:ln/>
        </p:spPr>
        <p:txBody>
          <a:bodyPr/>
          <a:lstStyle/>
          <a:p>
            <a:endParaRPr lang="en-IN"/>
          </a:p>
        </p:txBody>
      </p:sp>
      <p:sp>
        <p:nvSpPr>
          <p:cNvPr id="16" name="Text 14"/>
          <p:cNvSpPr/>
          <p:nvPr/>
        </p:nvSpPr>
        <p:spPr>
          <a:xfrm>
            <a:off x="60350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Push</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to ECR</a:t>
            </a:r>
            <a:endParaRPr lang="en-US" sz="1100" dirty="0"/>
          </a:p>
        </p:txBody>
      </p:sp>
      <p:sp>
        <p:nvSpPr>
          <p:cNvPr id="17" name="Text 15"/>
          <p:cNvSpPr/>
          <p:nvPr/>
        </p:nvSpPr>
        <p:spPr>
          <a:xfrm>
            <a:off x="7223760" y="1005840"/>
            <a:ext cx="182880" cy="731520"/>
          </a:xfrm>
          <a:prstGeom prst="rect">
            <a:avLst/>
          </a:prstGeom>
          <a:noFill/>
          <a:ln/>
        </p:spPr>
        <p:txBody>
          <a:bodyPr wrap="square" lIns="0" tIns="0" rIns="0" bIns="0"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7406640" y="1005840"/>
            <a:ext cx="1188720" cy="731520"/>
          </a:xfrm>
          <a:prstGeom prst="rect">
            <a:avLst/>
          </a:prstGeom>
          <a:solidFill>
            <a:srgbClr val="0F172A"/>
          </a:solidFill>
          <a:ln/>
        </p:spPr>
        <p:txBody>
          <a:bodyPr/>
          <a:lstStyle/>
          <a:p>
            <a:endParaRPr lang="en-IN"/>
          </a:p>
        </p:txBody>
      </p:sp>
      <p:sp>
        <p:nvSpPr>
          <p:cNvPr id="19" name="Text 17"/>
          <p:cNvSpPr/>
          <p:nvPr/>
        </p:nvSpPr>
        <p:spPr>
          <a:xfrm>
            <a:off x="7406640" y="1005840"/>
            <a:ext cx="118872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Deploy</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to ECS</a:t>
            </a:r>
            <a:endParaRPr lang="en-US" sz="1100" dirty="0"/>
          </a:p>
        </p:txBody>
      </p:sp>
      <p:sp>
        <p:nvSpPr>
          <p:cNvPr id="20" name="Shape 18"/>
          <p:cNvSpPr/>
          <p:nvPr/>
        </p:nvSpPr>
        <p:spPr>
          <a:xfrm>
            <a:off x="548640" y="1965960"/>
            <a:ext cx="8046720" cy="2994660"/>
          </a:xfrm>
          <a:prstGeom prst="rect">
            <a:avLst/>
          </a:prstGeom>
          <a:solidFill>
            <a:srgbClr val="0F172A"/>
          </a:solidFill>
          <a:ln/>
        </p:spPr>
        <p:txBody>
          <a:bodyPr/>
          <a:lstStyle/>
          <a:p>
            <a:endParaRPr lang="en-IN"/>
          </a:p>
        </p:txBody>
      </p:sp>
      <p:sp>
        <p:nvSpPr>
          <p:cNvPr id="21" name="Text 19"/>
          <p:cNvSpPr/>
          <p:nvPr/>
        </p:nvSpPr>
        <p:spPr>
          <a:xfrm>
            <a:off x="731520" y="2057400"/>
            <a:ext cx="7680960" cy="2811780"/>
          </a:xfrm>
          <a:prstGeom prst="rect">
            <a:avLst/>
          </a:prstGeom>
          <a:noFill/>
          <a:ln/>
        </p:spPr>
        <p:txBody>
          <a:bodyPr wrap="square" lIns="0" tIns="0" rIns="0" bIns="0" rtlCol="0" anchor="t"/>
          <a:lstStyle/>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name: CI/CD - Build, Scan, Push &amp; Deploy</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on:</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push:</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branches: [main]</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jobs:</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build-and-push:</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runs-on: ubuntu-latest</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steps:</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uses: actions/checkout@v4</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run: python -m pytest tests/ -v</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run: docker build -t myapp:$GITHUB_SHA .</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uses: </a:t>
            </a:r>
            <a:r>
              <a:rPr lang="en-US" sz="950" dirty="0" err="1">
                <a:solidFill>
                  <a:srgbClr val="06B6D4"/>
                </a:solidFill>
                <a:latin typeface="Consolas" pitchFamily="34" charset="0"/>
                <a:ea typeface="Consolas" pitchFamily="34" charset="-122"/>
                <a:cs typeface="Consolas" pitchFamily="34" charset="-120"/>
              </a:rPr>
              <a:t>aquasecurity</a:t>
            </a:r>
            <a:r>
              <a:rPr lang="en-US" sz="950" dirty="0">
                <a:solidFill>
                  <a:srgbClr val="06B6D4"/>
                </a:solidFill>
                <a:latin typeface="Consolas" pitchFamily="34" charset="0"/>
                <a:ea typeface="Consolas" pitchFamily="34" charset="-122"/>
                <a:cs typeface="Consolas" pitchFamily="34" charset="-120"/>
              </a:rPr>
              <a:t>/</a:t>
            </a:r>
            <a:r>
              <a:rPr lang="en-US" sz="950" dirty="0" err="1">
                <a:solidFill>
                  <a:srgbClr val="06B6D4"/>
                </a:solidFill>
                <a:latin typeface="Consolas" pitchFamily="34" charset="0"/>
                <a:ea typeface="Consolas" pitchFamily="34" charset="-122"/>
                <a:cs typeface="Consolas" pitchFamily="34" charset="-120"/>
              </a:rPr>
              <a:t>trivy-action@master</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run: docker push $ECR_REPO:$GITHUB_SHA</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deploy:</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needs: build-and-push</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if: github.ref == 'refs/heads/main'</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steps:</a:t>
            </a:r>
            <a:endParaRPr lang="en-US" sz="950" dirty="0"/>
          </a:p>
          <a:p>
            <a:pPr marL="0" indent="0">
              <a:lnSpc>
                <a:spcPct val="105000"/>
              </a:lnSpc>
              <a:buNone/>
            </a:pPr>
            <a:r>
              <a:rPr lang="en-US" sz="950" dirty="0">
                <a:solidFill>
                  <a:srgbClr val="06B6D4"/>
                </a:solidFill>
                <a:latin typeface="Consolas" pitchFamily="34" charset="0"/>
                <a:ea typeface="Consolas" pitchFamily="34" charset="-122"/>
                <a:cs typeface="Consolas" pitchFamily="34" charset="-120"/>
              </a:rPr>
              <a:t>      - run: aws ecs update-service --force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Jenkins vs GitHub Actions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3291840"/>
        </p:xfrm>
        <a:graphic>
          <a:graphicData uri="http://schemas.openxmlformats.org/drawingml/2006/table">
            <a:tbl>
              <a:tblPr/>
              <a:tblGrid>
                <a:gridCol w="1645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Dimension</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Jenkins</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GitHub Actions</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Infrastructure</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Self-hosted, you manage everything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GitHub-hosted or self-hosted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Cost model</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Server cost + engineer time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Free tier + per-minute billing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Setup time</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Hours to days (plugins, config)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Minutes (just YAML files)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Pipeline language</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Groovy (powerful, complex)</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YAML (simple, less flexible)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Plugin ecosystem</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1800+ plugins, very mature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Marketplace actions, growing fast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Secrets</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Credentials store + Vault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Native secrets, OIDC for cloud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Parallel builds</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parallel{} block</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Matrix strategy, parallel jobs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100" b="1" dirty="0">
                          <a:solidFill>
                            <a:srgbClr val="0F172A"/>
                          </a:solidFill>
                          <a:latin typeface="Trebuchet MS" pitchFamily="34" charset="0"/>
                          <a:ea typeface="Trebuchet MS" pitchFamily="34" charset="-122"/>
                          <a:cs typeface="Trebuchet MS" pitchFamily="34" charset="-120"/>
                        </a:rPr>
                        <a:t>Best for</a:t>
                      </a:r>
                      <a:endParaRPr lang="en-US" sz="11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Large enterprise, complex flows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GitHub-native, cloud-first teams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3200" b="1" dirty="0">
                <a:solidFill>
                  <a:srgbClr val="0F172A"/>
                </a:solidFill>
                <a:latin typeface="Trebuchet MS" pitchFamily="34" charset="0"/>
                <a:ea typeface="Trebuchet MS" pitchFamily="34" charset="-122"/>
                <a:cs typeface="Trebuchet MS" pitchFamily="34" charset="-120"/>
              </a:rPr>
              <a:t>Advanced Patterns</a:t>
            </a:r>
            <a:endParaRPr lang="en-US" sz="3200" dirty="0"/>
          </a:p>
        </p:txBody>
      </p:sp>
      <p:sp>
        <p:nvSpPr>
          <p:cNvPr id="3" name="Shape 1"/>
          <p:cNvSpPr/>
          <p:nvPr/>
        </p:nvSpPr>
        <p:spPr>
          <a:xfrm>
            <a:off x="548640" y="91440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4" name="Image 0" descr="preencoded.png"/>
          <p:cNvPicPr>
            <a:picLocks noChangeAspect="1"/>
          </p:cNvPicPr>
          <p:nvPr/>
        </p:nvPicPr>
        <p:blipFill>
          <a:blip r:embed="rId3"/>
          <a:stretch>
            <a:fillRect/>
          </a:stretch>
        </p:blipFill>
        <p:spPr>
          <a:xfrm>
            <a:off x="658368" y="1005840"/>
            <a:ext cx="274320" cy="274320"/>
          </a:xfrm>
          <a:prstGeom prst="rect">
            <a:avLst/>
          </a:prstGeom>
        </p:spPr>
      </p:pic>
      <p:sp>
        <p:nvSpPr>
          <p:cNvPr id="5" name="Text 2"/>
          <p:cNvSpPr/>
          <p:nvPr/>
        </p:nvSpPr>
        <p:spPr>
          <a:xfrm>
            <a:off x="1005840" y="1005840"/>
            <a:ext cx="3337560" cy="27432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Reusable Workflows</a:t>
            </a:r>
            <a:endParaRPr lang="en-US" sz="1400" dirty="0"/>
          </a:p>
        </p:txBody>
      </p:sp>
      <p:sp>
        <p:nvSpPr>
          <p:cNvPr id="6" name="Text 3"/>
          <p:cNvSpPr/>
          <p:nvPr/>
        </p:nvSpPr>
        <p:spPr>
          <a:xfrm>
            <a:off x="658368" y="1353312"/>
            <a:ext cx="3712464" cy="594360"/>
          </a:xfrm>
          <a:prstGeom prst="rect">
            <a:avLst/>
          </a:prstGeom>
          <a:noFill/>
          <a:ln/>
        </p:spPr>
        <p:txBody>
          <a:bodyPr wrap="square" lIns="0" tIns="0" rIns="0" bIns="0" rtlCol="0" anchor="ctr"/>
          <a:lstStyle/>
          <a:p>
            <a:pPr marL="0" indent="0">
              <a:lnSpc>
                <a:spcPct val="120000"/>
              </a:lnSpc>
              <a:buNone/>
            </a:pPr>
            <a:r>
              <a:rPr lang="en-US" sz="1100" dirty="0">
                <a:solidFill>
                  <a:srgbClr val="334155"/>
                </a:solidFill>
                <a:latin typeface="Calibri" pitchFamily="34" charset="0"/>
                <a:ea typeface="Calibri" pitchFamily="34" charset="-122"/>
                <a:cs typeface="Calibri" pitchFamily="34" charset="-120"/>
              </a:rPr>
              <a:t>Define once with workflow_call trigger. Any repo in the org calls it via uses:. Pass inputs and secrets.</a:t>
            </a:r>
            <a:endParaRPr lang="en-US" sz="1100" dirty="0"/>
          </a:p>
        </p:txBody>
      </p:sp>
      <p:sp>
        <p:nvSpPr>
          <p:cNvPr id="7" name="Shape 4"/>
          <p:cNvSpPr/>
          <p:nvPr/>
        </p:nvSpPr>
        <p:spPr>
          <a:xfrm>
            <a:off x="658368" y="1993392"/>
            <a:ext cx="3712464" cy="640080"/>
          </a:xfrm>
          <a:prstGeom prst="rect">
            <a:avLst/>
          </a:prstGeom>
          <a:solidFill>
            <a:srgbClr val="0F172A"/>
          </a:solidFill>
          <a:ln/>
        </p:spPr>
        <p:txBody>
          <a:bodyPr/>
          <a:lstStyle/>
          <a:p>
            <a:endParaRPr lang="en-IN"/>
          </a:p>
        </p:txBody>
      </p:sp>
      <p:sp>
        <p:nvSpPr>
          <p:cNvPr id="8" name="Text 5"/>
          <p:cNvSpPr/>
          <p:nvPr/>
        </p:nvSpPr>
        <p:spPr>
          <a:xfrm>
            <a:off x="731520" y="2029968"/>
            <a:ext cx="3566160" cy="566928"/>
          </a:xfrm>
          <a:prstGeom prst="rect">
            <a:avLst/>
          </a:prstGeom>
          <a:noFill/>
          <a:ln/>
        </p:spPr>
        <p:txBody>
          <a:bodyPr wrap="square" lIns="0" tIns="0" rIns="0" bIns="0" rtlCol="0" anchor="ctr"/>
          <a:lstStyle/>
          <a:p>
            <a:pPr marL="0" indent="0">
              <a:buNone/>
            </a:pPr>
            <a:r>
              <a:rPr lang="en-US" sz="950" dirty="0">
                <a:solidFill>
                  <a:srgbClr val="06B6D4"/>
                </a:solidFill>
                <a:latin typeface="Consolas" pitchFamily="34" charset="0"/>
                <a:ea typeface="Consolas" pitchFamily="34" charset="-122"/>
                <a:cs typeface="Consolas" pitchFamily="34" charset="-120"/>
              </a:rPr>
              <a:t>uses: org/repo/.github/</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workflows/build.yml@main</a:t>
            </a:r>
            <a:endParaRPr lang="en-US" sz="950" dirty="0"/>
          </a:p>
        </p:txBody>
      </p:sp>
      <p:sp>
        <p:nvSpPr>
          <p:cNvPr id="9" name="Shape 6"/>
          <p:cNvSpPr/>
          <p:nvPr/>
        </p:nvSpPr>
        <p:spPr>
          <a:xfrm>
            <a:off x="4754880" y="91440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0" name="Image 1" descr="preencoded.png"/>
          <p:cNvPicPr>
            <a:picLocks noChangeAspect="1"/>
          </p:cNvPicPr>
          <p:nvPr/>
        </p:nvPicPr>
        <p:blipFill>
          <a:blip r:embed="rId4"/>
          <a:stretch>
            <a:fillRect/>
          </a:stretch>
        </p:blipFill>
        <p:spPr>
          <a:xfrm>
            <a:off x="4864608" y="1005840"/>
            <a:ext cx="274320" cy="274320"/>
          </a:xfrm>
          <a:prstGeom prst="rect">
            <a:avLst/>
          </a:prstGeom>
        </p:spPr>
      </p:pic>
      <p:sp>
        <p:nvSpPr>
          <p:cNvPr id="11" name="Text 7"/>
          <p:cNvSpPr/>
          <p:nvPr/>
        </p:nvSpPr>
        <p:spPr>
          <a:xfrm>
            <a:off x="5212080" y="1005840"/>
            <a:ext cx="3337560" cy="27432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Matrix Strategy</a:t>
            </a:r>
            <a:endParaRPr lang="en-US" sz="1400" dirty="0"/>
          </a:p>
        </p:txBody>
      </p:sp>
      <p:sp>
        <p:nvSpPr>
          <p:cNvPr id="12" name="Text 8"/>
          <p:cNvSpPr/>
          <p:nvPr/>
        </p:nvSpPr>
        <p:spPr>
          <a:xfrm>
            <a:off x="4864608" y="1353312"/>
            <a:ext cx="3712464" cy="594360"/>
          </a:xfrm>
          <a:prstGeom prst="rect">
            <a:avLst/>
          </a:prstGeom>
          <a:noFill/>
          <a:ln/>
        </p:spPr>
        <p:txBody>
          <a:bodyPr wrap="square" lIns="0" tIns="0" rIns="0" bIns="0" rtlCol="0" anchor="ctr"/>
          <a:lstStyle/>
          <a:p>
            <a:pPr marL="0" indent="0">
              <a:lnSpc>
                <a:spcPct val="120000"/>
              </a:lnSpc>
              <a:buNone/>
            </a:pPr>
            <a:r>
              <a:rPr lang="en-US" sz="1100" dirty="0">
                <a:solidFill>
                  <a:srgbClr val="334155"/>
                </a:solidFill>
                <a:latin typeface="Calibri" pitchFamily="34" charset="0"/>
                <a:ea typeface="Calibri" pitchFamily="34" charset="-122"/>
                <a:cs typeface="Calibri" pitchFamily="34" charset="-120"/>
              </a:rPr>
              <a:t>Test across Python 3.10, 3.11, 3.12 or multiple OS in parallel. Use fail-fast: false for all results.</a:t>
            </a:r>
            <a:endParaRPr lang="en-US" sz="1100" dirty="0"/>
          </a:p>
        </p:txBody>
      </p:sp>
      <p:sp>
        <p:nvSpPr>
          <p:cNvPr id="13" name="Shape 9"/>
          <p:cNvSpPr/>
          <p:nvPr/>
        </p:nvSpPr>
        <p:spPr>
          <a:xfrm>
            <a:off x="4864608" y="1993392"/>
            <a:ext cx="3712464" cy="640080"/>
          </a:xfrm>
          <a:prstGeom prst="rect">
            <a:avLst/>
          </a:prstGeom>
          <a:solidFill>
            <a:srgbClr val="0F172A"/>
          </a:solidFill>
          <a:ln/>
        </p:spPr>
        <p:txBody>
          <a:bodyPr/>
          <a:lstStyle/>
          <a:p>
            <a:endParaRPr lang="en-IN"/>
          </a:p>
        </p:txBody>
      </p:sp>
      <p:sp>
        <p:nvSpPr>
          <p:cNvPr id="14" name="Text 10"/>
          <p:cNvSpPr/>
          <p:nvPr/>
        </p:nvSpPr>
        <p:spPr>
          <a:xfrm>
            <a:off x="4937760" y="2029968"/>
            <a:ext cx="3566160" cy="566928"/>
          </a:xfrm>
          <a:prstGeom prst="rect">
            <a:avLst/>
          </a:prstGeom>
          <a:noFill/>
          <a:ln/>
        </p:spPr>
        <p:txBody>
          <a:bodyPr wrap="square" lIns="0" tIns="0" rIns="0" bIns="0" rtlCol="0" anchor="ctr"/>
          <a:lstStyle/>
          <a:p>
            <a:pPr marL="0" indent="0">
              <a:buNone/>
            </a:pPr>
            <a:r>
              <a:rPr lang="en-US" sz="950" dirty="0">
                <a:solidFill>
                  <a:srgbClr val="06B6D4"/>
                </a:solidFill>
                <a:latin typeface="Consolas" pitchFamily="34" charset="0"/>
                <a:ea typeface="Consolas" pitchFamily="34" charset="-122"/>
                <a:cs typeface="Consolas" pitchFamily="34" charset="-120"/>
              </a:rPr>
              <a:t>strategy:</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matrix:</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python: ['3.10','3.11','3.12']</a:t>
            </a:r>
            <a:endParaRPr lang="en-US" sz="950" dirty="0"/>
          </a:p>
        </p:txBody>
      </p:sp>
      <p:sp>
        <p:nvSpPr>
          <p:cNvPr id="15" name="Shape 11"/>
          <p:cNvSpPr/>
          <p:nvPr/>
        </p:nvSpPr>
        <p:spPr>
          <a:xfrm>
            <a:off x="548640" y="292608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16" name="Image 2" descr="preencoded.png"/>
          <p:cNvPicPr>
            <a:picLocks noChangeAspect="1"/>
          </p:cNvPicPr>
          <p:nvPr/>
        </p:nvPicPr>
        <p:blipFill>
          <a:blip r:embed="rId5"/>
          <a:stretch>
            <a:fillRect/>
          </a:stretch>
        </p:blipFill>
        <p:spPr>
          <a:xfrm>
            <a:off x="658368" y="3017520"/>
            <a:ext cx="274320" cy="274320"/>
          </a:xfrm>
          <a:prstGeom prst="rect">
            <a:avLst/>
          </a:prstGeom>
        </p:spPr>
      </p:pic>
      <p:sp>
        <p:nvSpPr>
          <p:cNvPr id="17" name="Text 12"/>
          <p:cNvSpPr/>
          <p:nvPr/>
        </p:nvSpPr>
        <p:spPr>
          <a:xfrm>
            <a:off x="1005840" y="3017520"/>
            <a:ext cx="3337560" cy="27432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Environments &amp; Protection</a:t>
            </a:r>
            <a:endParaRPr lang="en-US" sz="1400" dirty="0"/>
          </a:p>
        </p:txBody>
      </p:sp>
      <p:sp>
        <p:nvSpPr>
          <p:cNvPr id="18" name="Text 13"/>
          <p:cNvSpPr/>
          <p:nvPr/>
        </p:nvSpPr>
        <p:spPr>
          <a:xfrm>
            <a:off x="658368" y="3364992"/>
            <a:ext cx="3712464" cy="594360"/>
          </a:xfrm>
          <a:prstGeom prst="rect">
            <a:avLst/>
          </a:prstGeom>
          <a:noFill/>
          <a:ln/>
        </p:spPr>
        <p:txBody>
          <a:bodyPr wrap="square" lIns="0" tIns="0" rIns="0" bIns="0" rtlCol="0" anchor="ctr"/>
          <a:lstStyle/>
          <a:p>
            <a:pPr marL="0" indent="0">
              <a:lnSpc>
                <a:spcPct val="120000"/>
              </a:lnSpc>
              <a:buNone/>
            </a:pPr>
            <a:r>
              <a:rPr lang="en-US" sz="1100" dirty="0">
                <a:solidFill>
                  <a:srgbClr val="334155"/>
                </a:solidFill>
                <a:latin typeface="Calibri" pitchFamily="34" charset="0"/>
                <a:ea typeface="Calibri" pitchFamily="34" charset="-122"/>
                <a:cs typeface="Calibri" pitchFamily="34" charset="-120"/>
              </a:rPr>
              <a:t>Define staging and production in Settings. Add required reviewers, wait timers, scoped secrets.</a:t>
            </a:r>
            <a:endParaRPr lang="en-US" sz="1100" dirty="0"/>
          </a:p>
        </p:txBody>
      </p:sp>
      <p:sp>
        <p:nvSpPr>
          <p:cNvPr id="19" name="Shape 14"/>
          <p:cNvSpPr/>
          <p:nvPr/>
        </p:nvSpPr>
        <p:spPr>
          <a:xfrm>
            <a:off x="658368" y="4005072"/>
            <a:ext cx="3712464" cy="640080"/>
          </a:xfrm>
          <a:prstGeom prst="rect">
            <a:avLst/>
          </a:prstGeom>
          <a:solidFill>
            <a:srgbClr val="0F172A"/>
          </a:solidFill>
          <a:ln/>
        </p:spPr>
        <p:txBody>
          <a:bodyPr/>
          <a:lstStyle/>
          <a:p>
            <a:endParaRPr lang="en-IN"/>
          </a:p>
        </p:txBody>
      </p:sp>
      <p:sp>
        <p:nvSpPr>
          <p:cNvPr id="20" name="Text 15"/>
          <p:cNvSpPr/>
          <p:nvPr/>
        </p:nvSpPr>
        <p:spPr>
          <a:xfrm>
            <a:off x="731520" y="4041648"/>
            <a:ext cx="3566160" cy="566928"/>
          </a:xfrm>
          <a:prstGeom prst="rect">
            <a:avLst/>
          </a:prstGeom>
          <a:noFill/>
          <a:ln/>
        </p:spPr>
        <p:txBody>
          <a:bodyPr wrap="square" lIns="0" tIns="0" rIns="0" bIns="0" rtlCol="0" anchor="ctr"/>
          <a:lstStyle/>
          <a:p>
            <a:pPr marL="0" indent="0">
              <a:buNone/>
            </a:pPr>
            <a:r>
              <a:rPr lang="en-US" sz="950" dirty="0">
                <a:solidFill>
                  <a:srgbClr val="06B6D4"/>
                </a:solidFill>
                <a:latin typeface="Consolas" pitchFamily="34" charset="0"/>
                <a:ea typeface="Consolas" pitchFamily="34" charset="-122"/>
                <a:cs typeface="Consolas" pitchFamily="34" charset="-120"/>
              </a:rPr>
              <a:t>environment:</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name: production</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url: https://myapp.com</a:t>
            </a:r>
            <a:endParaRPr lang="en-US" sz="950" dirty="0"/>
          </a:p>
        </p:txBody>
      </p:sp>
      <p:sp>
        <p:nvSpPr>
          <p:cNvPr id="21" name="Shape 16"/>
          <p:cNvSpPr/>
          <p:nvPr/>
        </p:nvSpPr>
        <p:spPr>
          <a:xfrm>
            <a:off x="4754880" y="292608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IN"/>
          </a:p>
        </p:txBody>
      </p:sp>
      <p:pic>
        <p:nvPicPr>
          <p:cNvPr id="22" name="Image 3" descr="preencoded.png"/>
          <p:cNvPicPr>
            <a:picLocks noChangeAspect="1"/>
          </p:cNvPicPr>
          <p:nvPr/>
        </p:nvPicPr>
        <p:blipFill>
          <a:blip r:embed="rId6"/>
          <a:stretch>
            <a:fillRect/>
          </a:stretch>
        </p:blipFill>
        <p:spPr>
          <a:xfrm>
            <a:off x="4864608" y="3017520"/>
            <a:ext cx="274320" cy="274320"/>
          </a:xfrm>
          <a:prstGeom prst="rect">
            <a:avLst/>
          </a:prstGeom>
        </p:spPr>
      </p:pic>
      <p:sp>
        <p:nvSpPr>
          <p:cNvPr id="23" name="Text 17"/>
          <p:cNvSpPr/>
          <p:nvPr/>
        </p:nvSpPr>
        <p:spPr>
          <a:xfrm>
            <a:off x="5212080" y="3017520"/>
            <a:ext cx="3337560" cy="274320"/>
          </a:xfrm>
          <a:prstGeom prst="rect">
            <a:avLst/>
          </a:prstGeom>
          <a:noFill/>
          <a:ln/>
        </p:spPr>
        <p:txBody>
          <a:bodyPr wrap="square" lIns="0" tIns="0" rIns="0" bIns="0" rtlCol="0" anchor="ctr"/>
          <a:lstStyle/>
          <a:p>
            <a:pPr marL="0" indent="0">
              <a:buNone/>
            </a:pPr>
            <a:r>
              <a:rPr lang="en-US" sz="1400" b="1" dirty="0">
                <a:solidFill>
                  <a:srgbClr val="0F172A"/>
                </a:solidFill>
                <a:latin typeface="Trebuchet MS" pitchFamily="34" charset="0"/>
                <a:ea typeface="Trebuchet MS" pitchFamily="34" charset="-122"/>
                <a:cs typeface="Trebuchet MS" pitchFamily="34" charset="-120"/>
              </a:rPr>
              <a:t>Secrets Management</a:t>
            </a:r>
            <a:endParaRPr lang="en-US" sz="1400" dirty="0"/>
          </a:p>
        </p:txBody>
      </p:sp>
      <p:sp>
        <p:nvSpPr>
          <p:cNvPr id="24" name="Text 18"/>
          <p:cNvSpPr/>
          <p:nvPr/>
        </p:nvSpPr>
        <p:spPr>
          <a:xfrm>
            <a:off x="4864608" y="3364992"/>
            <a:ext cx="3712464" cy="594360"/>
          </a:xfrm>
          <a:prstGeom prst="rect">
            <a:avLst/>
          </a:prstGeom>
          <a:noFill/>
          <a:ln/>
        </p:spPr>
        <p:txBody>
          <a:bodyPr wrap="square" lIns="0" tIns="0" rIns="0" bIns="0" rtlCol="0" anchor="ctr"/>
          <a:lstStyle/>
          <a:p>
            <a:pPr marL="0" indent="0">
              <a:lnSpc>
                <a:spcPct val="120000"/>
              </a:lnSpc>
              <a:buNone/>
            </a:pPr>
            <a:r>
              <a:rPr lang="en-US" sz="1100" dirty="0">
                <a:solidFill>
                  <a:srgbClr val="334155"/>
                </a:solidFill>
                <a:latin typeface="Calibri" pitchFamily="34" charset="0"/>
                <a:ea typeface="Calibri" pitchFamily="34" charset="-122"/>
                <a:cs typeface="Calibri" pitchFamily="34" charset="-120"/>
              </a:rPr>
              <a:t>Repo or org secrets via Settings → Secrets. Accessed as ${{ secrets.NAME }}, always masked in logs.</a:t>
            </a:r>
            <a:endParaRPr lang="en-US" sz="1100" dirty="0"/>
          </a:p>
        </p:txBody>
      </p:sp>
      <p:sp>
        <p:nvSpPr>
          <p:cNvPr id="25" name="Shape 19"/>
          <p:cNvSpPr/>
          <p:nvPr/>
        </p:nvSpPr>
        <p:spPr>
          <a:xfrm>
            <a:off x="4864608" y="4005072"/>
            <a:ext cx="3712464" cy="640080"/>
          </a:xfrm>
          <a:prstGeom prst="rect">
            <a:avLst/>
          </a:prstGeom>
          <a:solidFill>
            <a:srgbClr val="0F172A"/>
          </a:solidFill>
          <a:ln/>
        </p:spPr>
        <p:txBody>
          <a:bodyPr/>
          <a:lstStyle/>
          <a:p>
            <a:endParaRPr lang="en-IN"/>
          </a:p>
        </p:txBody>
      </p:sp>
      <p:sp>
        <p:nvSpPr>
          <p:cNvPr id="26" name="Text 20"/>
          <p:cNvSpPr/>
          <p:nvPr/>
        </p:nvSpPr>
        <p:spPr>
          <a:xfrm>
            <a:off x="4937760" y="4041648"/>
            <a:ext cx="3566160" cy="566928"/>
          </a:xfrm>
          <a:prstGeom prst="rect">
            <a:avLst/>
          </a:prstGeom>
          <a:noFill/>
          <a:ln/>
        </p:spPr>
        <p:txBody>
          <a:bodyPr wrap="square" lIns="0" tIns="0" rIns="0" bIns="0" rtlCol="0" anchor="ctr"/>
          <a:lstStyle/>
          <a:p>
            <a:pPr marL="0" indent="0">
              <a:buNone/>
            </a:pPr>
            <a:r>
              <a:rPr lang="en-US" sz="950" dirty="0">
                <a:solidFill>
                  <a:srgbClr val="06B6D4"/>
                </a:solidFill>
                <a:latin typeface="Consolas" pitchFamily="34" charset="0"/>
                <a:ea typeface="Consolas" pitchFamily="34" charset="-122"/>
                <a:cs typeface="Consolas" pitchFamily="34" charset="-120"/>
              </a:rPr>
              <a:t>${{ secrets.AWS_ACCESS_KEY }}</a:t>
            </a:r>
            <a:endParaRPr lang="en-US" sz="950" dirty="0"/>
          </a:p>
          <a:p>
            <a:pPr marL="0" indent="0">
              <a:buNone/>
            </a:pPr>
            <a:r>
              <a:rPr lang="en-US" sz="950" dirty="0">
                <a:solidFill>
                  <a:srgbClr val="06B6D4"/>
                </a:solidFill>
                <a:latin typeface="Consolas" pitchFamily="34" charset="0"/>
                <a:ea typeface="Consolas" pitchFamily="34" charset="-122"/>
                <a:cs typeface="Consolas" pitchFamily="34" charset="-120"/>
              </a:rPr>
              <a:t>${{ secrets.SLACK_WEBHOOK }}</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Text 1"/>
          <p:cNvSpPr/>
          <p:nvPr/>
        </p:nvSpPr>
        <p:spPr>
          <a:xfrm>
            <a:off x="548640" y="365760"/>
            <a:ext cx="8046720" cy="6400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Session 7 Recap</a:t>
            </a:r>
            <a:endParaRPr lang="en-US" sz="3600" dirty="0"/>
          </a:p>
        </p:txBody>
      </p:sp>
      <p:sp>
        <p:nvSpPr>
          <p:cNvPr id="4" name="Text 2"/>
          <p:cNvSpPr/>
          <p:nvPr/>
        </p:nvSpPr>
        <p:spPr>
          <a:xfrm>
            <a:off x="548640" y="960120"/>
            <a:ext cx="8046720" cy="365760"/>
          </a:xfrm>
          <a:prstGeom prst="rect">
            <a:avLst/>
          </a:prstGeom>
          <a:noFill/>
          <a:ln/>
        </p:spPr>
        <p:txBody>
          <a:bodyPr wrap="square" lIns="0" tIns="0" rIns="0" bIns="0" rtlCol="0" anchor="ctr"/>
          <a:lstStyle/>
          <a:p>
            <a:pPr marL="0" indent="0">
              <a:buNone/>
            </a:pPr>
            <a:r>
              <a:rPr lang="en-US" sz="1600" dirty="0">
                <a:solidFill>
                  <a:srgbClr val="06B6D4"/>
                </a:solidFill>
                <a:latin typeface="Calibri" pitchFamily="34" charset="0"/>
                <a:ea typeface="Calibri" pitchFamily="34" charset="-122"/>
                <a:cs typeface="Calibri" pitchFamily="34" charset="-120"/>
              </a:rPr>
              <a:t>You now understand GitHub Actions end-to-end</a:t>
            </a:r>
            <a:endParaRPr lang="en-US" sz="1600" dirty="0"/>
          </a:p>
        </p:txBody>
      </p:sp>
      <p:pic>
        <p:nvPicPr>
          <p:cNvPr id="5" name="Image 0" descr="preencoded.png"/>
          <p:cNvPicPr>
            <a:picLocks noChangeAspect="1"/>
          </p:cNvPicPr>
          <p:nvPr/>
        </p:nvPicPr>
        <p:blipFill>
          <a:blip r:embed="rId3"/>
          <a:stretch>
            <a:fillRect/>
          </a:stretch>
        </p:blipFill>
        <p:spPr>
          <a:xfrm>
            <a:off x="731520" y="1554480"/>
            <a:ext cx="256032" cy="256032"/>
          </a:xfrm>
          <a:prstGeom prst="rect">
            <a:avLst/>
          </a:prstGeom>
        </p:spPr>
      </p:pic>
      <p:sp>
        <p:nvSpPr>
          <p:cNvPr id="6" name="Text 3"/>
          <p:cNvSpPr/>
          <p:nvPr/>
        </p:nvSpPr>
        <p:spPr>
          <a:xfrm>
            <a:off x="1143000" y="1508760"/>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What GitHub Actions is and how it works</a:t>
            </a:r>
            <a:endParaRPr lang="en-US" sz="1400" dirty="0"/>
          </a:p>
        </p:txBody>
      </p:sp>
      <p:pic>
        <p:nvPicPr>
          <p:cNvPr id="7" name="Image 1" descr="preencoded.png"/>
          <p:cNvPicPr>
            <a:picLocks noChangeAspect="1"/>
          </p:cNvPicPr>
          <p:nvPr/>
        </p:nvPicPr>
        <p:blipFill>
          <a:blip r:embed="rId3"/>
          <a:stretch>
            <a:fillRect/>
          </a:stretch>
        </p:blipFill>
        <p:spPr>
          <a:xfrm>
            <a:off x="731520" y="1956816"/>
            <a:ext cx="256032" cy="256032"/>
          </a:xfrm>
          <a:prstGeom prst="rect">
            <a:avLst/>
          </a:prstGeom>
        </p:spPr>
      </p:pic>
      <p:sp>
        <p:nvSpPr>
          <p:cNvPr id="8" name="Text 4"/>
          <p:cNvSpPr/>
          <p:nvPr/>
        </p:nvSpPr>
        <p:spPr>
          <a:xfrm>
            <a:off x="1143000" y="1911096"/>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The Actions UI — where to find runs, logs, artifacts</a:t>
            </a:r>
            <a:endParaRPr lang="en-US" sz="1400" dirty="0"/>
          </a:p>
        </p:txBody>
      </p:sp>
      <p:pic>
        <p:nvPicPr>
          <p:cNvPr id="9" name="Image 2" descr="preencoded.png"/>
          <p:cNvPicPr>
            <a:picLocks noChangeAspect="1"/>
          </p:cNvPicPr>
          <p:nvPr/>
        </p:nvPicPr>
        <p:blipFill>
          <a:blip r:embed="rId3"/>
          <a:stretch>
            <a:fillRect/>
          </a:stretch>
        </p:blipFill>
        <p:spPr>
          <a:xfrm>
            <a:off x="731520" y="2359152"/>
            <a:ext cx="256032" cy="256032"/>
          </a:xfrm>
          <a:prstGeom prst="rect">
            <a:avLst/>
          </a:prstGeom>
        </p:spPr>
      </p:pic>
      <p:sp>
        <p:nvSpPr>
          <p:cNvPr id="10" name="Text 5"/>
          <p:cNvSpPr/>
          <p:nvPr/>
        </p:nvSpPr>
        <p:spPr>
          <a:xfrm>
            <a:off x="1143000" y="2313432"/>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Runners: GitHub-hosted vs self-hosted</a:t>
            </a:r>
            <a:endParaRPr lang="en-US" sz="1400" dirty="0"/>
          </a:p>
        </p:txBody>
      </p:sp>
      <p:pic>
        <p:nvPicPr>
          <p:cNvPr id="11" name="Image 3" descr="preencoded.png"/>
          <p:cNvPicPr>
            <a:picLocks noChangeAspect="1"/>
          </p:cNvPicPr>
          <p:nvPr/>
        </p:nvPicPr>
        <p:blipFill>
          <a:blip r:embed="rId3"/>
          <a:stretch>
            <a:fillRect/>
          </a:stretch>
        </p:blipFill>
        <p:spPr>
          <a:xfrm>
            <a:off x="731520" y="2761488"/>
            <a:ext cx="256032" cy="256032"/>
          </a:xfrm>
          <a:prstGeom prst="rect">
            <a:avLst/>
          </a:prstGeom>
        </p:spPr>
      </p:pic>
      <p:sp>
        <p:nvSpPr>
          <p:cNvPr id="12" name="Text 6"/>
          <p:cNvSpPr/>
          <p:nvPr/>
        </p:nvSpPr>
        <p:spPr>
          <a:xfrm>
            <a:off x="1143000" y="2715768"/>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Pricing: free tiers, minute quotas, cost multipliers</a:t>
            </a:r>
            <a:endParaRPr lang="en-US" sz="1400" dirty="0"/>
          </a:p>
        </p:txBody>
      </p:sp>
      <p:pic>
        <p:nvPicPr>
          <p:cNvPr id="13" name="Image 4" descr="preencoded.png"/>
          <p:cNvPicPr>
            <a:picLocks noChangeAspect="1"/>
          </p:cNvPicPr>
          <p:nvPr/>
        </p:nvPicPr>
        <p:blipFill>
          <a:blip r:embed="rId3"/>
          <a:stretch>
            <a:fillRect/>
          </a:stretch>
        </p:blipFill>
        <p:spPr>
          <a:xfrm>
            <a:off x="731520" y="3163824"/>
            <a:ext cx="256032" cy="256032"/>
          </a:xfrm>
          <a:prstGeom prst="rect">
            <a:avLst/>
          </a:prstGeom>
        </p:spPr>
      </p:pic>
      <p:sp>
        <p:nvSpPr>
          <p:cNvPr id="14" name="Text 7"/>
          <p:cNvSpPr/>
          <p:nvPr/>
        </p:nvSpPr>
        <p:spPr>
          <a:xfrm>
            <a:off x="1143000" y="3118104"/>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Workflow YAML: events, jobs, steps, needs, if</a:t>
            </a:r>
            <a:endParaRPr lang="en-US" sz="1400" dirty="0"/>
          </a:p>
        </p:txBody>
      </p:sp>
      <p:pic>
        <p:nvPicPr>
          <p:cNvPr id="15" name="Image 5" descr="preencoded.png"/>
          <p:cNvPicPr>
            <a:picLocks noChangeAspect="1"/>
          </p:cNvPicPr>
          <p:nvPr/>
        </p:nvPicPr>
        <p:blipFill>
          <a:blip r:embed="rId3"/>
          <a:stretch>
            <a:fillRect/>
          </a:stretch>
        </p:blipFill>
        <p:spPr>
          <a:xfrm>
            <a:off x="731520" y="3566160"/>
            <a:ext cx="256032" cy="256032"/>
          </a:xfrm>
          <a:prstGeom prst="rect">
            <a:avLst/>
          </a:prstGeom>
        </p:spPr>
      </p:pic>
      <p:sp>
        <p:nvSpPr>
          <p:cNvPr id="16" name="Text 8"/>
          <p:cNvSpPr/>
          <p:nvPr/>
        </p:nvSpPr>
        <p:spPr>
          <a:xfrm>
            <a:off x="1143000" y="3520440"/>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Full CI/CD pipeline: test → build → scan → push → deploy</a:t>
            </a:r>
            <a:endParaRPr lang="en-US" sz="1400" dirty="0"/>
          </a:p>
        </p:txBody>
      </p:sp>
      <p:pic>
        <p:nvPicPr>
          <p:cNvPr id="17" name="Image 6" descr="preencoded.png"/>
          <p:cNvPicPr>
            <a:picLocks noChangeAspect="1"/>
          </p:cNvPicPr>
          <p:nvPr/>
        </p:nvPicPr>
        <p:blipFill>
          <a:blip r:embed="rId3"/>
          <a:stretch>
            <a:fillRect/>
          </a:stretch>
        </p:blipFill>
        <p:spPr>
          <a:xfrm>
            <a:off x="731520" y="3968496"/>
            <a:ext cx="256032" cy="256032"/>
          </a:xfrm>
          <a:prstGeom prst="rect">
            <a:avLst/>
          </a:prstGeom>
        </p:spPr>
      </p:pic>
      <p:sp>
        <p:nvSpPr>
          <p:cNvPr id="18" name="Text 9"/>
          <p:cNvSpPr/>
          <p:nvPr/>
        </p:nvSpPr>
        <p:spPr>
          <a:xfrm>
            <a:off x="1143000" y="3922776"/>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Jenkins vs GHA — when to use which</a:t>
            </a:r>
            <a:endParaRPr lang="en-US" sz="1400" dirty="0"/>
          </a:p>
        </p:txBody>
      </p:sp>
      <p:pic>
        <p:nvPicPr>
          <p:cNvPr id="19" name="Image 7" descr="preencoded.png"/>
          <p:cNvPicPr>
            <a:picLocks noChangeAspect="1"/>
          </p:cNvPicPr>
          <p:nvPr/>
        </p:nvPicPr>
        <p:blipFill>
          <a:blip r:embed="rId3"/>
          <a:stretch>
            <a:fillRect/>
          </a:stretch>
        </p:blipFill>
        <p:spPr>
          <a:xfrm>
            <a:off x="731520" y="4370832"/>
            <a:ext cx="256032" cy="256032"/>
          </a:xfrm>
          <a:prstGeom prst="rect">
            <a:avLst/>
          </a:prstGeom>
        </p:spPr>
      </p:pic>
      <p:sp>
        <p:nvSpPr>
          <p:cNvPr id="20" name="Text 10"/>
          <p:cNvSpPr/>
          <p:nvPr/>
        </p:nvSpPr>
        <p:spPr>
          <a:xfrm>
            <a:off x="1143000" y="4325112"/>
            <a:ext cx="731520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Advanced: reusable workflows, matrix, environments, secrets</a:t>
            </a:r>
            <a:endParaRPr lang="en-US" sz="1400" dirty="0"/>
          </a:p>
        </p:txBody>
      </p:sp>
      <p:sp>
        <p:nvSpPr>
          <p:cNvPr id="21" name="Text 11"/>
          <p:cNvSpPr/>
          <p:nvPr/>
        </p:nvSpPr>
        <p:spPr>
          <a:xfrm>
            <a:off x="548640" y="4663440"/>
            <a:ext cx="8046720" cy="320040"/>
          </a:xfrm>
          <a:prstGeom prst="rect">
            <a:avLst/>
          </a:prstGeom>
          <a:noFill/>
          <a:ln/>
        </p:spPr>
        <p:txBody>
          <a:bodyPr wrap="square" lIns="0" tIns="0" rIns="0" bIns="0" rtlCol="0" anchor="ctr"/>
          <a:lstStyle/>
          <a:p>
            <a:pPr marL="0" indent="0">
              <a:buNone/>
            </a:pPr>
            <a:r>
              <a:rPr lang="en-US" sz="1300" i="1" dirty="0">
                <a:solidFill>
                  <a:srgbClr val="F59E0B"/>
                </a:solidFill>
                <a:latin typeface="Calibri" pitchFamily="34" charset="0"/>
                <a:ea typeface="Calibri" pitchFamily="34" charset="-122"/>
                <a:cs typeface="Calibri" pitchFamily="34" charset="-120"/>
              </a:rPr>
              <a:t>Next: Hands-on labs — build, push, and deploy your Flask app with Actions!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1237</Words>
  <Application>Microsoft Office PowerPoint</Application>
  <PresentationFormat>On-screen Show (16:9)</PresentationFormat>
  <Paragraphs>196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Actions - Session 7</dc:title>
  <dc:subject>PptxGenJS Presentation</dc:subject>
  <dc:creator>CI/CD Training</dc:creator>
  <cp:lastModifiedBy>KubeCraft Technologies</cp:lastModifiedBy>
  <cp:revision>6</cp:revision>
  <dcterms:created xsi:type="dcterms:W3CDTF">2026-03-15T03:45:14Z</dcterms:created>
  <dcterms:modified xsi:type="dcterms:W3CDTF">2026-03-15T08:54:13Z</dcterms:modified>
</cp:coreProperties>
</file>